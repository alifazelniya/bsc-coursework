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79" r:id="rId3"/>
    <p:sldId id="260" r:id="rId4"/>
    <p:sldId id="280" r:id="rId5"/>
    <p:sldId id="281" r:id="rId6"/>
    <p:sldId id="282" r:id="rId7"/>
    <p:sldId id="283" r:id="rId8"/>
    <p:sldId id="284" r:id="rId9"/>
    <p:sldId id="28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ssan.samadi.1380@gmail.com" initials="h" lastIdx="1" clrIdx="0">
    <p:extLst>
      <p:ext uri="{19B8F6BF-5375-455C-9EA6-DF929625EA0E}">
        <p15:presenceInfo xmlns:p15="http://schemas.microsoft.com/office/powerpoint/2012/main" userId="f8a3843e584b15a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8F01"/>
    <a:srgbClr val="E2DC00"/>
    <a:srgbClr val="353535"/>
    <a:srgbClr val="C2CD07"/>
    <a:srgbClr val="F7FE4B"/>
    <a:srgbClr val="E7EB58"/>
    <a:srgbClr val="5B1646"/>
    <a:srgbClr val="CA0035"/>
    <a:srgbClr val="0E5A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48" autoAdjust="0"/>
    <p:restoredTop sz="93136" autoAdjust="0"/>
  </p:normalViewPr>
  <p:slideViewPr>
    <p:cSldViewPr snapToGrid="0">
      <p:cViewPr varScale="1">
        <p:scale>
          <a:sx n="77" d="100"/>
          <a:sy n="77" d="100"/>
        </p:scale>
        <p:origin x="77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E80DA1-8014-4F85-AD28-DE2335F04CD6}" type="datetimeFigureOut">
              <a:rPr lang="en-US" smtClean="0"/>
              <a:t>5/27/2023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27EBD4-82E5-472D-BF5E-AF0CC85294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779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27EBD4-82E5-472D-BF5E-AF0CC85294A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45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27EBD4-82E5-472D-BF5E-AF0CC85294A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030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D30CE-2E13-4320-A7EA-A5D0C07212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3A8C00-5BAD-46FA-87CA-B4C8D0CDA5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67AD9-E2D5-4D3E-941F-CA9E58ADD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7876A-856E-4C8E-AC0F-9F9EBF24E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119CA-4F87-4E58-8C49-E760A386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60AFD-F91D-48C2-962E-6D3342CF8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587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BA0BC-91B7-4931-ACB2-E424C686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03A6D-934D-477B-AB04-E8DFAA39A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66C931-79AB-4C51-8661-27945AFB5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A6561-97F0-4FCD-BC41-12BE77F4D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8B459B-19DD-4701-B22B-5D16892D8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60AFD-F91D-48C2-962E-6D3342CF8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187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2CE34-8FC2-428A-A7AD-7814CBDDB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7145C-B6D0-4E4E-882A-AB2E507A5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12CD31-4D4E-4598-93CD-6657DCE5E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2C9B9-59D5-4902-8C53-F46DD7D9B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DEB41C-E6EE-4492-A938-EE7ED84E8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60AFD-F91D-48C2-962E-6D3342CF8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698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61D4A-E405-4C13-9105-F7306753E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56AE0-21C0-402F-9D55-7D5A3CF07A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959A0C-9C8E-455B-8519-360FD16ACB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3DF6CA-550C-4508-8AA4-AE0C18842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C222E1-8DA3-42ED-830D-AB98521E2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932D36-AD80-4759-B6B5-FDC902442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60AFD-F91D-48C2-962E-6D3342CF8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803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3F5BC-EA50-4E02-BD05-36E1F0824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33CB9D-87D5-447B-9225-07D65E3E8F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D847C5-4F72-4D85-A749-1DD0957F4A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385CDC-E609-443F-8D95-D97BE576CB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57B8FD-6D6B-44A3-AA38-D0A7B4BC5C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5C4451-4CD0-4FE5-8706-302D79168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2C616B-2FCA-455D-9D7A-CDADFD1B7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9E08DF-01DC-4F08-B022-F757707C9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60AFD-F91D-48C2-962E-6D3342CF8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542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45D31-0F23-42CC-9D23-320083FD0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089818-0C45-419E-A668-75535FE0A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FC1054-3D4F-4AAB-9DDB-FAC4B1720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C1F06A-2B44-44B0-B928-FB25F7094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60AFD-F91D-48C2-962E-6D3342CF8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250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1FFB0D83-2BB1-4516-9D3B-56923125A087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1590675" y="1516063"/>
            <a:ext cx="4346575" cy="2792412"/>
          </a:xfrm>
        </p:spPr>
        <p:txBody>
          <a:bodyPr/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6D9108F-F140-42D9-8002-EB8B4A934221}"/>
              </a:ext>
            </a:extLst>
          </p:cNvPr>
          <p:cNvSpPr/>
          <p:nvPr userDrawn="1"/>
        </p:nvSpPr>
        <p:spPr>
          <a:xfrm>
            <a:off x="11696700" y="6367507"/>
            <a:ext cx="457200" cy="457200"/>
          </a:xfrm>
          <a:prstGeom prst="ellipse">
            <a:avLst/>
          </a:prstGeom>
          <a:noFill/>
          <a:ln w="38100">
            <a:solidFill>
              <a:srgbClr val="FFC000"/>
            </a:solidFill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BB2DBF-E6D2-4BD7-B0C3-2C04AF3CA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29738" y="6413544"/>
            <a:ext cx="2743200" cy="365125"/>
          </a:xfrm>
        </p:spPr>
        <p:txBody>
          <a:bodyPr/>
          <a:lstStyle>
            <a:lvl1pPr>
              <a:defRPr sz="1600">
                <a:solidFill>
                  <a:srgbClr val="FFC000"/>
                </a:solidFill>
                <a:cs typeface="B Nazanin" panose="00000400000000000000" pitchFamily="2" charset="-78"/>
              </a:defRPr>
            </a:lvl1pPr>
          </a:lstStyle>
          <a:p>
            <a:fld id="{CEA60AFD-F91D-48C2-962E-6D3342CF860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23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B8FD5-D440-4773-BC6E-F0EFFE0F3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DCF0C-1366-4337-8257-1FCB22A7D1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34635C-B79E-4AA5-83FA-A6E09308B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1B532-9A4C-421D-B336-ED821E3CD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1EAB62-35FA-42C6-8042-155D1DC50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D39DDC-19A8-4039-A0DF-C6CE5EAAC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60AFD-F91D-48C2-962E-6D3342CF8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8605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85B8E-04D5-4AA8-AE86-F3DDAE393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A7AA71-0E25-4CB5-9134-A1E1C5CC22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FA5A98-DAC0-4F51-B6A1-3ECE1F3FB9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1CFE38-C2D2-4934-83B1-D8EF8EBCB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86038F-16C6-4098-8EDA-43446E72E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5EAA6F-61DA-48FB-AF10-C205AC54E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60AFD-F91D-48C2-962E-6D3342CF8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283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CEB9F7-BBE5-4FE1-89C1-7177E29EE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2DFA41-5D3E-4872-BE76-3D9AEA2771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53EE0-A6DE-4422-9CA1-494908210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6A4AA-9B7E-44BF-9EBB-A25B7614C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E03BE-DBF1-4FC8-80ED-2CCF7EEE2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60AFD-F91D-48C2-962E-6D3342CF8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231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89C483-F022-43E9-9775-3EDBAEB51D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44B4D6-7C2D-42B8-9C2C-CF113FBFC1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581EB-AB92-4825-9280-0782D2D2C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DEEF3-BC2B-40B4-B988-EAD776327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805D8-30EC-4F92-A1D7-431FB9EB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60AFD-F91D-48C2-962E-6D3342CF8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439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1868F4-068D-4CCB-952D-C6A081FC7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C376F2-6E57-4220-BF29-58740E5EB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2C18B-AE1A-48DC-BC62-A9330025A3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5BE14-FD6D-42D8-A656-5D5E85A3F6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1273F-1171-4452-B508-7035FAF634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A60AFD-F91D-48C2-962E-6D3342CF86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040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3B8122A6-4968-4265-817A-8E657322FE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" y="1"/>
            <a:ext cx="2414954" cy="2579076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F7DC511C-1719-4013-872F-7DE592245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9694985" y="-82061"/>
            <a:ext cx="2414954" cy="2579076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81E01D1-84C5-4EA8-A132-00B2225F62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82061" y="4360985"/>
            <a:ext cx="2414954" cy="25790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0AFAC80-6D4D-4256-A8E8-0A94FED335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9777046" y="4278924"/>
            <a:ext cx="2414954" cy="257907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B350782-3A5E-4DF7-9D1C-83A01A0A303E}"/>
              </a:ext>
            </a:extLst>
          </p:cNvPr>
          <p:cNvSpPr/>
          <p:nvPr/>
        </p:nvSpPr>
        <p:spPr>
          <a:xfrm>
            <a:off x="2804646" y="1161705"/>
            <a:ext cx="6553201" cy="4677508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3ECC342-24A1-48A8-BE92-722BB77ECA2C}"/>
              </a:ext>
            </a:extLst>
          </p:cNvPr>
          <p:cNvSpPr/>
          <p:nvPr/>
        </p:nvSpPr>
        <p:spPr>
          <a:xfrm>
            <a:off x="4835553" y="2343600"/>
            <a:ext cx="249138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a-IR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B Yekan" panose="00000400000000000000" pitchFamily="2" charset="-78"/>
              </a:rPr>
              <a:t>برنامه مدیریت مالی</a:t>
            </a:r>
            <a:endParaRPr lang="en-US" sz="2800" b="1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B Yekan" panose="00000400000000000000" pitchFamily="2" charset="-78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55ECB95-A3D7-48F9-908E-8D2DBBF44397}"/>
              </a:ext>
            </a:extLst>
          </p:cNvPr>
          <p:cNvSpPr/>
          <p:nvPr/>
        </p:nvSpPr>
        <p:spPr>
          <a:xfrm>
            <a:off x="4981318" y="3300404"/>
            <a:ext cx="2229364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fa-IR" sz="2000" b="1" dirty="0">
                <a:solidFill>
                  <a:schemeClr val="bg1"/>
                </a:solidFill>
              </a:rPr>
              <a:t>ارائه   </a:t>
            </a:r>
            <a:r>
              <a:rPr lang="fa-IR" sz="2000" b="1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B Yekan" panose="00000400000000000000" pitchFamily="2" charset="-78"/>
              </a:rPr>
              <a:t>شده توسط</a:t>
            </a:r>
            <a:endParaRPr lang="en-US" sz="2000" b="1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B Yekan" panose="00000400000000000000" pitchFamily="2" charset="-78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E04DDE5-1101-4102-B761-B6647CD74398}"/>
              </a:ext>
            </a:extLst>
          </p:cNvPr>
          <p:cNvSpPr/>
          <p:nvPr/>
        </p:nvSpPr>
        <p:spPr>
          <a:xfrm>
            <a:off x="6470937" y="4042936"/>
            <a:ext cx="139012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a-IR" sz="2000" b="1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B Yekan" panose="00000400000000000000" pitchFamily="2" charset="-78"/>
              </a:rPr>
              <a:t>علی فاضل نیا </a:t>
            </a:r>
            <a:endParaRPr lang="en-US" sz="2000" b="1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B Yekan" panose="00000400000000000000" pitchFamily="2" charset="-78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0D4976C-451E-4882-96F0-432A384A7BFB}"/>
              </a:ext>
            </a:extLst>
          </p:cNvPr>
          <p:cNvSpPr/>
          <p:nvPr/>
        </p:nvSpPr>
        <p:spPr>
          <a:xfrm>
            <a:off x="4769668" y="4042936"/>
            <a:ext cx="1311578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fa-IR" sz="20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B Yekan" panose="00000400000000000000" pitchFamily="2" charset="-78"/>
              </a:rPr>
              <a:t>حسن صمدی </a:t>
            </a:r>
            <a:endParaRPr lang="en-US" sz="2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B Yekan" panose="00000400000000000000" pitchFamily="2" charset="-78"/>
            </a:endParaRPr>
          </a:p>
        </p:txBody>
      </p:sp>
      <p:pic>
        <p:nvPicPr>
          <p:cNvPr id="47" name="Graphic 46">
            <a:extLst>
              <a:ext uri="{FF2B5EF4-FFF2-40B4-BE49-F238E27FC236}">
                <a16:creationId xmlns:a16="http://schemas.microsoft.com/office/drawing/2014/main" id="{05DC58C1-1A7F-45B6-A0DE-75FF85CF7B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25404" y="1381867"/>
            <a:ext cx="2541192" cy="662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2473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3B8122A6-4968-4265-817A-8E657322FE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" y="1"/>
            <a:ext cx="2414954" cy="2579076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F7DC511C-1719-4013-872F-7DE592245D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9694985" y="-82061"/>
            <a:ext cx="2414954" cy="2579076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81E01D1-84C5-4EA8-A132-00B2225F62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82061" y="4360985"/>
            <a:ext cx="2414954" cy="257907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0AFAC80-6D4D-4256-A8E8-0A94FED335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9777046" y="4278924"/>
            <a:ext cx="2414954" cy="257907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B350782-3A5E-4DF7-9D1C-83A01A0A303E}"/>
              </a:ext>
            </a:extLst>
          </p:cNvPr>
          <p:cNvSpPr/>
          <p:nvPr/>
        </p:nvSpPr>
        <p:spPr>
          <a:xfrm>
            <a:off x="2247089" y="1004880"/>
            <a:ext cx="8005863" cy="5012362"/>
          </a:xfrm>
          <a:prstGeom prst="rect">
            <a:avLst/>
          </a:prstGeom>
          <a:solidFill>
            <a:schemeClr val="bg1"/>
          </a:solidFill>
          <a:ln w="28575">
            <a:solidFill>
              <a:srgbClr val="E2DC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a-IR" sz="2000" dirty="0"/>
          </a:p>
          <a:p>
            <a:pPr algn="ctr"/>
            <a:r>
              <a:rPr lang="fa-IR" sz="2000" dirty="0"/>
              <a:t>)     «مدیریت مالی شخصی» </a:t>
            </a:r>
            <a:r>
              <a:rPr lang="en-US" sz="2000" dirty="0"/>
              <a:t>Personal Financial Management)</a:t>
            </a:r>
            <a:endParaRPr lang="fa-IR" sz="2000" dirty="0"/>
          </a:p>
          <a:p>
            <a:pPr algn="ctr"/>
            <a:endParaRPr lang="fa-IR" dirty="0"/>
          </a:p>
          <a:p>
            <a:pPr algn="ctr"/>
            <a:endParaRPr lang="fa-IR" dirty="0"/>
          </a:p>
          <a:p>
            <a:pPr algn="ctr"/>
            <a:r>
              <a:rPr lang="fa-IR" dirty="0"/>
              <a:t>پول خرج کردن کاری ساده و لذت‌بخش است اما اگر نتوانیم مدیریت مالی شخصی داشته باشیم خیلی زود  تمام می‌شوند و با معضلات گوناگونی روبه‌رو می‌شویم. اهمیت مدیریت مالی به حدی است که رشته‌ای دانشگاهی با عنوان رشته  مدیریت مالی  وجود دارد. </a:t>
            </a:r>
          </a:p>
          <a:p>
            <a:pPr algn="ctr"/>
            <a:endParaRPr lang="fa-IR" dirty="0"/>
          </a:p>
          <a:p>
            <a:pPr algn="ctr"/>
            <a:r>
              <a:rPr lang="fa-IR" dirty="0"/>
              <a:t>به شکل ساده یعنی شناخت درستی از میزان درآمدهای خود به دست آورید و از آن‌ها برای گذران زندگی روزانه و برنامه‌ ریزی  برای آینده بیشترین بهره را ببرید.</a:t>
            </a:r>
          </a:p>
          <a:p>
            <a:pPr algn="ctr"/>
            <a:endParaRPr lang="fa-IR" dirty="0"/>
          </a:p>
          <a:p>
            <a:pPr algn="ctr"/>
            <a:endParaRPr lang="fa-IR" dirty="0"/>
          </a:p>
          <a:p>
            <a:pPr algn="ctr"/>
            <a:r>
              <a:rPr lang="fa-IR" dirty="0"/>
              <a:t> </a:t>
            </a:r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0D4976C-451E-4882-96F0-432A384A7BFB}"/>
              </a:ext>
            </a:extLst>
          </p:cNvPr>
          <p:cNvSpPr/>
          <p:nvPr/>
        </p:nvSpPr>
        <p:spPr>
          <a:xfrm>
            <a:off x="6028150" y="4569808"/>
            <a:ext cx="3748896" cy="4001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endParaRPr lang="en-US" sz="20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B Yeka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724959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8C8A8E5-F71A-4753-8CD3-385D7584E844}"/>
              </a:ext>
            </a:extLst>
          </p:cNvPr>
          <p:cNvSpPr/>
          <p:nvPr/>
        </p:nvSpPr>
        <p:spPr>
          <a:xfrm>
            <a:off x="2633355" y="351687"/>
            <a:ext cx="1617788" cy="691668"/>
          </a:xfrm>
          <a:prstGeom prst="roundRect">
            <a:avLst/>
          </a:prstGeom>
          <a:solidFill>
            <a:srgbClr val="E7EB58"/>
          </a:solidFill>
          <a:ln>
            <a:solidFill>
              <a:srgbClr val="E7EB58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black"/>
                </a:solidFill>
                <a:latin typeface="Calibri" panose="020F0502020204030204"/>
                <a:cs typeface="B Yekan" panose="00000400000000000000" pitchFamily="2" charset="-78"/>
              </a:rPr>
              <a:t>نمودار ها </a:t>
            </a:r>
            <a:endParaRPr lang="en-US" dirty="0">
              <a:solidFill>
                <a:prstClr val="black"/>
              </a:solidFill>
              <a:latin typeface="Calibri" panose="020F0502020204030204"/>
              <a:cs typeface="B Yekan" panose="00000400000000000000" pitchFamily="2" charset="-78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9306F83-60D6-4002-8440-747D4971D767}"/>
              </a:ext>
            </a:extLst>
          </p:cNvPr>
          <p:cNvSpPr/>
          <p:nvPr/>
        </p:nvSpPr>
        <p:spPr>
          <a:xfrm>
            <a:off x="6144495" y="351687"/>
            <a:ext cx="1617788" cy="691668"/>
          </a:xfrm>
          <a:prstGeom prst="roundRect">
            <a:avLst/>
          </a:prstGeom>
          <a:solidFill>
            <a:srgbClr val="E7EB58"/>
          </a:solidFill>
          <a:ln>
            <a:solidFill>
              <a:srgbClr val="E7EB58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dirty="0">
                <a:solidFill>
                  <a:prstClr val="black"/>
                </a:solidFill>
                <a:latin typeface="Calibri" panose="020F0502020204030204"/>
                <a:cs typeface="B Yekan" panose="00000400000000000000" pitchFamily="2" charset="-78"/>
              </a:rPr>
              <a:t>قیمت آنلاین ارز ها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B Yekan" panose="00000400000000000000" pitchFamily="2" charset="-78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54D2D54-398F-4424-BA03-8924E5C68A14}"/>
              </a:ext>
            </a:extLst>
          </p:cNvPr>
          <p:cNvSpPr/>
          <p:nvPr/>
        </p:nvSpPr>
        <p:spPr>
          <a:xfrm>
            <a:off x="4388925" y="351687"/>
            <a:ext cx="1617788" cy="691668"/>
          </a:xfrm>
          <a:prstGeom prst="roundRect">
            <a:avLst/>
          </a:prstGeom>
          <a:solidFill>
            <a:srgbClr val="E7EB58"/>
          </a:solidFill>
          <a:ln>
            <a:solidFill>
              <a:srgbClr val="E7EB58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B Yekan" panose="00000400000000000000" pitchFamily="2" charset="-78"/>
              </a:rPr>
              <a:t>تقویم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B Yekan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7D15C63-1139-40E0-AB72-FA87E7844D5D}"/>
              </a:ext>
            </a:extLst>
          </p:cNvPr>
          <p:cNvSpPr/>
          <p:nvPr/>
        </p:nvSpPr>
        <p:spPr>
          <a:xfrm>
            <a:off x="7900065" y="351687"/>
            <a:ext cx="1617788" cy="691668"/>
          </a:xfrm>
          <a:prstGeom prst="roundRect">
            <a:avLst/>
          </a:prstGeom>
          <a:solidFill>
            <a:srgbClr val="E7EB58"/>
          </a:solidFill>
          <a:ln>
            <a:solidFill>
              <a:srgbClr val="E7EB58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Log in &amp;</a:t>
            </a:r>
            <a:r>
              <a:rPr lang="fa-IR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lang="en-US" dirty="0"/>
              <a:t>database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29C8635-69D5-4078-97E3-8EBB90B4F78F}"/>
              </a:ext>
            </a:extLst>
          </p:cNvPr>
          <p:cNvSpPr/>
          <p:nvPr/>
        </p:nvSpPr>
        <p:spPr>
          <a:xfrm>
            <a:off x="9655635" y="351687"/>
            <a:ext cx="1617788" cy="691668"/>
          </a:xfrm>
          <a:prstGeom prst="roundRect">
            <a:avLst/>
          </a:prstGeom>
          <a:solidFill>
            <a:srgbClr val="F18F01"/>
          </a:solidFill>
          <a:ln>
            <a:solidFill>
              <a:srgbClr val="F18F0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a-IR" dirty="0">
                <a:solidFill>
                  <a:prstClr val="black"/>
                </a:solidFill>
                <a:latin typeface="Calibri" panose="020F0502020204030204"/>
                <a:cs typeface="B Yekan" panose="00000400000000000000" pitchFamily="2" charset="-78"/>
              </a:rPr>
              <a:t>طرح کلی</a:t>
            </a:r>
            <a:endParaRPr lang="en-US" dirty="0">
              <a:solidFill>
                <a:prstClr val="black"/>
              </a:solidFill>
              <a:latin typeface="Calibri" panose="020F0502020204030204"/>
              <a:cs typeface="B Yekan" panose="00000400000000000000" pitchFamily="2" charset="-78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5601D7A-3D6D-4578-BA3F-F73A0014F91A}"/>
              </a:ext>
            </a:extLst>
          </p:cNvPr>
          <p:cNvSpPr/>
          <p:nvPr/>
        </p:nvSpPr>
        <p:spPr>
          <a:xfrm>
            <a:off x="615863" y="1301261"/>
            <a:ext cx="10960274" cy="5205052"/>
          </a:xfrm>
          <a:prstGeom prst="rect">
            <a:avLst/>
          </a:prstGeom>
          <a:ln>
            <a:solidFill>
              <a:srgbClr val="E7EB58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C5F24FE-DF35-4E63-8E28-0DE0176A3AFE}"/>
              </a:ext>
            </a:extLst>
          </p:cNvPr>
          <p:cNvSpPr/>
          <p:nvPr/>
        </p:nvSpPr>
        <p:spPr>
          <a:xfrm>
            <a:off x="877785" y="351687"/>
            <a:ext cx="1617788" cy="691668"/>
          </a:xfrm>
          <a:prstGeom prst="roundRect">
            <a:avLst/>
          </a:prstGeom>
          <a:solidFill>
            <a:srgbClr val="E7EB58"/>
          </a:solidFill>
          <a:ln>
            <a:solidFill>
              <a:srgbClr val="E7EB58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B Yekan" panose="00000400000000000000" pitchFamily="2" charset="-78"/>
              </a:rPr>
              <a:t>ساعت و گیف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B Yekan" panose="00000400000000000000" pitchFamily="2" charset="-78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4BA5751-DEE4-4FCC-B88F-8D5446359C36}"/>
              </a:ext>
            </a:extLst>
          </p:cNvPr>
          <p:cNvGrpSpPr/>
          <p:nvPr/>
        </p:nvGrpSpPr>
        <p:grpSpPr>
          <a:xfrm>
            <a:off x="7352778" y="1478065"/>
            <a:ext cx="3513045" cy="827292"/>
            <a:chOff x="7352778" y="1665822"/>
            <a:chExt cx="3513045" cy="827292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07BB1370-EF48-4E53-8DB1-B8E5DF4A54B0}"/>
                </a:ext>
              </a:extLst>
            </p:cNvPr>
            <p:cNvGrpSpPr/>
            <p:nvPr/>
          </p:nvGrpSpPr>
          <p:grpSpPr>
            <a:xfrm>
              <a:off x="10366497" y="1804322"/>
              <a:ext cx="499326" cy="499326"/>
              <a:chOff x="6538714" y="1603273"/>
              <a:chExt cx="1132116" cy="1132116"/>
            </a:xfrm>
            <a:solidFill>
              <a:schemeClr val="accent3"/>
            </a:solidFill>
          </p:grpSpPr>
          <p:sp>
            <p:nvSpPr>
              <p:cNvPr id="150" name="Freeform: Shape 13">
                <a:extLst>
                  <a:ext uri="{FF2B5EF4-FFF2-40B4-BE49-F238E27FC236}">
                    <a16:creationId xmlns:a16="http://schemas.microsoft.com/office/drawing/2014/main" id="{018462FC-82C5-40E9-B30D-1EB60FA615E9}"/>
                  </a:ext>
                </a:extLst>
              </p:cNvPr>
              <p:cNvSpPr/>
              <p:nvPr/>
            </p:nvSpPr>
            <p:spPr>
              <a:xfrm>
                <a:off x="6538714" y="1603273"/>
                <a:ext cx="1132116" cy="1132116"/>
              </a:xfrm>
              <a:custGeom>
                <a:avLst/>
                <a:gdLst>
                  <a:gd name="connsiteX0" fmla="*/ 566058 w 1132116"/>
                  <a:gd name="connsiteY0" fmla="*/ 0 h 1132116"/>
                  <a:gd name="connsiteX1" fmla="*/ 1132116 w 1132116"/>
                  <a:gd name="connsiteY1" fmla="*/ 566058 h 1132116"/>
                  <a:gd name="connsiteX2" fmla="*/ 566058 w 1132116"/>
                  <a:gd name="connsiteY2" fmla="*/ 1132116 h 1132116"/>
                  <a:gd name="connsiteX3" fmla="*/ 0 w 1132116"/>
                  <a:gd name="connsiteY3" fmla="*/ 566058 h 1132116"/>
                  <a:gd name="connsiteX4" fmla="*/ 566058 w 1132116"/>
                  <a:gd name="connsiteY4" fmla="*/ 0 h 1132116"/>
                  <a:gd name="connsiteX5" fmla="*/ 566053 w 1132116"/>
                  <a:gd name="connsiteY5" fmla="*/ 76795 h 1132116"/>
                  <a:gd name="connsiteX6" fmla="*/ 76791 w 1132116"/>
                  <a:gd name="connsiteY6" fmla="*/ 566057 h 1132116"/>
                  <a:gd name="connsiteX7" fmla="*/ 566053 w 1132116"/>
                  <a:gd name="connsiteY7" fmla="*/ 1055319 h 1132116"/>
                  <a:gd name="connsiteX8" fmla="*/ 1055315 w 1132116"/>
                  <a:gd name="connsiteY8" fmla="*/ 566057 h 1132116"/>
                  <a:gd name="connsiteX9" fmla="*/ 566053 w 1132116"/>
                  <a:gd name="connsiteY9" fmla="*/ 76795 h 1132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32116" h="1132116">
                    <a:moveTo>
                      <a:pt x="566058" y="0"/>
                    </a:moveTo>
                    <a:cubicBezTo>
                      <a:pt x="878683" y="0"/>
                      <a:pt x="1132116" y="253433"/>
                      <a:pt x="1132116" y="566058"/>
                    </a:cubicBezTo>
                    <a:cubicBezTo>
                      <a:pt x="1132116" y="878683"/>
                      <a:pt x="878683" y="1132116"/>
                      <a:pt x="566058" y="1132116"/>
                    </a:cubicBezTo>
                    <a:cubicBezTo>
                      <a:pt x="253433" y="1132116"/>
                      <a:pt x="0" y="878683"/>
                      <a:pt x="0" y="566058"/>
                    </a:cubicBezTo>
                    <a:cubicBezTo>
                      <a:pt x="0" y="253433"/>
                      <a:pt x="253433" y="0"/>
                      <a:pt x="566058" y="0"/>
                    </a:cubicBezTo>
                    <a:close/>
                    <a:moveTo>
                      <a:pt x="566053" y="76795"/>
                    </a:moveTo>
                    <a:cubicBezTo>
                      <a:pt x="295841" y="76795"/>
                      <a:pt x="76791" y="295845"/>
                      <a:pt x="76791" y="566057"/>
                    </a:cubicBezTo>
                    <a:cubicBezTo>
                      <a:pt x="76791" y="836269"/>
                      <a:pt x="295841" y="1055319"/>
                      <a:pt x="566053" y="1055319"/>
                    </a:cubicBezTo>
                    <a:cubicBezTo>
                      <a:pt x="836265" y="1055319"/>
                      <a:pt x="1055315" y="836269"/>
                      <a:pt x="1055315" y="566057"/>
                    </a:cubicBezTo>
                    <a:cubicBezTo>
                      <a:pt x="1055315" y="295845"/>
                      <a:pt x="836265" y="76795"/>
                      <a:pt x="566053" y="76795"/>
                    </a:cubicBezTo>
                    <a:close/>
                  </a:path>
                </a:pathLst>
              </a:custGeom>
              <a:solidFill>
                <a:srgbClr val="5B1646"/>
              </a:solidFill>
              <a:ln>
                <a:solidFill>
                  <a:srgbClr val="5B16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E3EF275B-3A36-4387-91A8-FBE7215388C3}"/>
                  </a:ext>
                </a:extLst>
              </p:cNvPr>
              <p:cNvSpPr/>
              <p:nvPr/>
            </p:nvSpPr>
            <p:spPr>
              <a:xfrm>
                <a:off x="6681562" y="1746121"/>
                <a:ext cx="846417" cy="846417"/>
              </a:xfrm>
              <a:prstGeom prst="ellipse">
                <a:avLst/>
              </a:prstGeom>
              <a:solidFill>
                <a:srgbClr val="5B1646"/>
              </a:solidFill>
              <a:ln>
                <a:solidFill>
                  <a:srgbClr val="5B16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a-IR" dirty="0">
                    <a:cs typeface="B Yekan" panose="00000400000000000000" pitchFamily="2" charset="-78"/>
                  </a:rPr>
                  <a:t>1</a:t>
                </a:r>
                <a:endParaRPr lang="id-ID" dirty="0">
                  <a:cs typeface="B Yekan" panose="00000400000000000000" pitchFamily="2" charset="-78"/>
                </a:endParaRPr>
              </a:p>
            </p:txBody>
          </p:sp>
        </p:grp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7E5622B6-F34D-431F-B81B-2B3686A54EF0}"/>
                </a:ext>
              </a:extLst>
            </p:cNvPr>
            <p:cNvSpPr/>
            <p:nvPr/>
          </p:nvSpPr>
          <p:spPr>
            <a:xfrm>
              <a:off x="7352778" y="1969894"/>
              <a:ext cx="2948826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fa-I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  <a:cs typeface="B Yekan" panose="00000400000000000000" pitchFamily="2" charset="-78"/>
                </a:rPr>
                <a:t>در این قسمت چکیده‌ای بسیار کوتاه راجع به تیتر خود وارد کنید.</a:t>
              </a:r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B Yekan" panose="00000400000000000000" pitchFamily="2" charset="-78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C9DB444E-F296-46CF-9A52-A0FA7F9E1463}"/>
                </a:ext>
              </a:extLst>
            </p:cNvPr>
            <p:cNvSpPr/>
            <p:nvPr/>
          </p:nvSpPr>
          <p:spPr>
            <a:xfrm>
              <a:off x="8217075" y="1665822"/>
              <a:ext cx="206317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fa-IR" sz="1600" b="1" dirty="0">
                  <a:solidFill>
                    <a:srgbClr val="5B1646"/>
                  </a:solidFill>
                  <a:latin typeface="Raleway" panose="020B0503030101060003" pitchFamily="34" charset="0"/>
                  <a:ea typeface="Times New Roman" panose="02020603050405020304" pitchFamily="18" charset="0"/>
                  <a:cs typeface="B Yekan" panose="00000400000000000000" pitchFamily="2" charset="-78"/>
                </a:rPr>
                <a:t>تیتر خود را وارد کنید</a:t>
              </a:r>
              <a:endParaRPr lang="id-ID" sz="1600" b="1" dirty="0">
                <a:solidFill>
                  <a:srgbClr val="5B1646"/>
                </a:solidFill>
                <a:latin typeface="Raleway" panose="020B0503030101060003" pitchFamily="34" charset="0"/>
                <a:cs typeface="B Yekan" panose="00000400000000000000" pitchFamily="2" charset="-78"/>
              </a:endParaRPr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8269E4F0-B4D0-47F2-9B2A-F0E9537A979D}"/>
              </a:ext>
            </a:extLst>
          </p:cNvPr>
          <p:cNvGrpSpPr/>
          <p:nvPr/>
        </p:nvGrpSpPr>
        <p:grpSpPr>
          <a:xfrm>
            <a:off x="7352778" y="2431559"/>
            <a:ext cx="3513045" cy="827292"/>
            <a:chOff x="7352778" y="1665822"/>
            <a:chExt cx="3513045" cy="827292"/>
          </a:xfrm>
        </p:grpSpPr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026C733D-BEBB-4DC6-A32F-3CE4342D25FF}"/>
                </a:ext>
              </a:extLst>
            </p:cNvPr>
            <p:cNvGrpSpPr/>
            <p:nvPr/>
          </p:nvGrpSpPr>
          <p:grpSpPr>
            <a:xfrm>
              <a:off x="10366497" y="1804322"/>
              <a:ext cx="499326" cy="499326"/>
              <a:chOff x="6538714" y="1603273"/>
              <a:chExt cx="1132116" cy="1132116"/>
            </a:xfrm>
            <a:solidFill>
              <a:schemeClr val="accent3"/>
            </a:solidFill>
          </p:grpSpPr>
          <p:sp>
            <p:nvSpPr>
              <p:cNvPr id="156" name="Freeform: Shape 13">
                <a:extLst>
                  <a:ext uri="{FF2B5EF4-FFF2-40B4-BE49-F238E27FC236}">
                    <a16:creationId xmlns:a16="http://schemas.microsoft.com/office/drawing/2014/main" id="{67F23F91-8E66-4D29-9418-E3F9341E12B5}"/>
                  </a:ext>
                </a:extLst>
              </p:cNvPr>
              <p:cNvSpPr/>
              <p:nvPr/>
            </p:nvSpPr>
            <p:spPr>
              <a:xfrm>
                <a:off x="6538714" y="1603273"/>
                <a:ext cx="1132116" cy="1132116"/>
              </a:xfrm>
              <a:custGeom>
                <a:avLst/>
                <a:gdLst>
                  <a:gd name="connsiteX0" fmla="*/ 566058 w 1132116"/>
                  <a:gd name="connsiteY0" fmla="*/ 0 h 1132116"/>
                  <a:gd name="connsiteX1" fmla="*/ 1132116 w 1132116"/>
                  <a:gd name="connsiteY1" fmla="*/ 566058 h 1132116"/>
                  <a:gd name="connsiteX2" fmla="*/ 566058 w 1132116"/>
                  <a:gd name="connsiteY2" fmla="*/ 1132116 h 1132116"/>
                  <a:gd name="connsiteX3" fmla="*/ 0 w 1132116"/>
                  <a:gd name="connsiteY3" fmla="*/ 566058 h 1132116"/>
                  <a:gd name="connsiteX4" fmla="*/ 566058 w 1132116"/>
                  <a:gd name="connsiteY4" fmla="*/ 0 h 1132116"/>
                  <a:gd name="connsiteX5" fmla="*/ 566053 w 1132116"/>
                  <a:gd name="connsiteY5" fmla="*/ 76795 h 1132116"/>
                  <a:gd name="connsiteX6" fmla="*/ 76791 w 1132116"/>
                  <a:gd name="connsiteY6" fmla="*/ 566057 h 1132116"/>
                  <a:gd name="connsiteX7" fmla="*/ 566053 w 1132116"/>
                  <a:gd name="connsiteY7" fmla="*/ 1055319 h 1132116"/>
                  <a:gd name="connsiteX8" fmla="*/ 1055315 w 1132116"/>
                  <a:gd name="connsiteY8" fmla="*/ 566057 h 1132116"/>
                  <a:gd name="connsiteX9" fmla="*/ 566053 w 1132116"/>
                  <a:gd name="connsiteY9" fmla="*/ 76795 h 1132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32116" h="1132116">
                    <a:moveTo>
                      <a:pt x="566058" y="0"/>
                    </a:moveTo>
                    <a:cubicBezTo>
                      <a:pt x="878683" y="0"/>
                      <a:pt x="1132116" y="253433"/>
                      <a:pt x="1132116" y="566058"/>
                    </a:cubicBezTo>
                    <a:cubicBezTo>
                      <a:pt x="1132116" y="878683"/>
                      <a:pt x="878683" y="1132116"/>
                      <a:pt x="566058" y="1132116"/>
                    </a:cubicBezTo>
                    <a:cubicBezTo>
                      <a:pt x="253433" y="1132116"/>
                      <a:pt x="0" y="878683"/>
                      <a:pt x="0" y="566058"/>
                    </a:cubicBezTo>
                    <a:cubicBezTo>
                      <a:pt x="0" y="253433"/>
                      <a:pt x="253433" y="0"/>
                      <a:pt x="566058" y="0"/>
                    </a:cubicBezTo>
                    <a:close/>
                    <a:moveTo>
                      <a:pt x="566053" y="76795"/>
                    </a:moveTo>
                    <a:cubicBezTo>
                      <a:pt x="295841" y="76795"/>
                      <a:pt x="76791" y="295845"/>
                      <a:pt x="76791" y="566057"/>
                    </a:cubicBezTo>
                    <a:cubicBezTo>
                      <a:pt x="76791" y="836269"/>
                      <a:pt x="295841" y="1055319"/>
                      <a:pt x="566053" y="1055319"/>
                    </a:cubicBezTo>
                    <a:cubicBezTo>
                      <a:pt x="836265" y="1055319"/>
                      <a:pt x="1055315" y="836269"/>
                      <a:pt x="1055315" y="566057"/>
                    </a:cubicBezTo>
                    <a:cubicBezTo>
                      <a:pt x="1055315" y="295845"/>
                      <a:pt x="836265" y="76795"/>
                      <a:pt x="566053" y="76795"/>
                    </a:cubicBezTo>
                    <a:close/>
                  </a:path>
                </a:pathLst>
              </a:custGeom>
              <a:solidFill>
                <a:srgbClr val="CA0035"/>
              </a:solidFill>
              <a:ln>
                <a:solidFill>
                  <a:srgbClr val="CA003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760FD0BD-0A6A-40A1-9476-C6613426114D}"/>
                  </a:ext>
                </a:extLst>
              </p:cNvPr>
              <p:cNvSpPr/>
              <p:nvPr/>
            </p:nvSpPr>
            <p:spPr>
              <a:xfrm>
                <a:off x="6681562" y="1746121"/>
                <a:ext cx="846417" cy="846417"/>
              </a:xfrm>
              <a:prstGeom prst="ellipse">
                <a:avLst/>
              </a:prstGeom>
              <a:solidFill>
                <a:srgbClr val="CA0035"/>
              </a:solidFill>
              <a:ln>
                <a:solidFill>
                  <a:srgbClr val="CA003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a-IR" dirty="0">
                    <a:cs typeface="B Yekan" panose="00000400000000000000" pitchFamily="2" charset="-78"/>
                  </a:rPr>
                  <a:t>2</a:t>
                </a:r>
                <a:endParaRPr lang="id-ID" dirty="0">
                  <a:cs typeface="B Yekan" panose="00000400000000000000" pitchFamily="2" charset="-78"/>
                </a:endParaRPr>
              </a:p>
            </p:txBody>
          </p:sp>
        </p:grp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BB9C2D2B-D1D3-4F3C-9D7C-C802ECB775E8}"/>
                </a:ext>
              </a:extLst>
            </p:cNvPr>
            <p:cNvSpPr/>
            <p:nvPr/>
          </p:nvSpPr>
          <p:spPr>
            <a:xfrm>
              <a:off x="7352778" y="1969894"/>
              <a:ext cx="2948826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fa-I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  <a:cs typeface="B Yekan" panose="00000400000000000000" pitchFamily="2" charset="-78"/>
                </a:rPr>
                <a:t>در این قسمت چکیده‌ای بسیار کوتاه راجع به تیتر خود وارد کنید.</a:t>
              </a:r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B Yekan" panose="00000400000000000000" pitchFamily="2" charset="-78"/>
              </a:endParaRP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989EC8A9-8B7A-4CD1-814B-8184426F3E2E}"/>
                </a:ext>
              </a:extLst>
            </p:cNvPr>
            <p:cNvSpPr/>
            <p:nvPr/>
          </p:nvSpPr>
          <p:spPr>
            <a:xfrm>
              <a:off x="8217075" y="1665822"/>
              <a:ext cx="2063169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fa-IR" sz="1600" b="1" dirty="0">
                  <a:solidFill>
                    <a:srgbClr val="CA0035"/>
                  </a:solidFill>
                  <a:latin typeface="Raleway" panose="020B0503030101060003" pitchFamily="34" charset="0"/>
                  <a:ea typeface="Times New Roman" panose="02020603050405020304" pitchFamily="18" charset="0"/>
                  <a:cs typeface="B Yekan" panose="00000400000000000000" pitchFamily="2" charset="-78"/>
                </a:rPr>
                <a:t>تیتر خود را وارد کنید</a:t>
              </a:r>
              <a:endParaRPr lang="id-ID" sz="1600" b="1" dirty="0">
                <a:solidFill>
                  <a:srgbClr val="CA0035"/>
                </a:solidFill>
                <a:latin typeface="Raleway" panose="020B0503030101060003" pitchFamily="34" charset="0"/>
                <a:cs typeface="B Yekan" panose="00000400000000000000" pitchFamily="2" charset="-78"/>
              </a:endParaRPr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F56408C7-5AD1-49A7-AD69-AC1258836590}"/>
              </a:ext>
            </a:extLst>
          </p:cNvPr>
          <p:cNvGrpSpPr/>
          <p:nvPr/>
        </p:nvGrpSpPr>
        <p:grpSpPr>
          <a:xfrm>
            <a:off x="7352778" y="3357129"/>
            <a:ext cx="3513045" cy="827292"/>
            <a:chOff x="7352778" y="1665822"/>
            <a:chExt cx="3513045" cy="827292"/>
          </a:xfrm>
        </p:grpSpPr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2424CB05-C743-48AB-8718-66E7ADF5EECB}"/>
                </a:ext>
              </a:extLst>
            </p:cNvPr>
            <p:cNvGrpSpPr/>
            <p:nvPr/>
          </p:nvGrpSpPr>
          <p:grpSpPr>
            <a:xfrm>
              <a:off x="10366497" y="1804322"/>
              <a:ext cx="499326" cy="499326"/>
              <a:chOff x="6538714" y="1603273"/>
              <a:chExt cx="1132116" cy="1132116"/>
            </a:xfrm>
            <a:solidFill>
              <a:schemeClr val="accent3"/>
            </a:solidFill>
          </p:grpSpPr>
          <p:sp>
            <p:nvSpPr>
              <p:cNvPr id="162" name="Freeform: Shape 13">
                <a:extLst>
                  <a:ext uri="{FF2B5EF4-FFF2-40B4-BE49-F238E27FC236}">
                    <a16:creationId xmlns:a16="http://schemas.microsoft.com/office/drawing/2014/main" id="{F56CF617-2CA8-4276-94AC-4DEDDC848904}"/>
                  </a:ext>
                </a:extLst>
              </p:cNvPr>
              <p:cNvSpPr/>
              <p:nvPr/>
            </p:nvSpPr>
            <p:spPr>
              <a:xfrm>
                <a:off x="6538714" y="1603273"/>
                <a:ext cx="1132116" cy="1132116"/>
              </a:xfrm>
              <a:custGeom>
                <a:avLst/>
                <a:gdLst>
                  <a:gd name="connsiteX0" fmla="*/ 566058 w 1132116"/>
                  <a:gd name="connsiteY0" fmla="*/ 0 h 1132116"/>
                  <a:gd name="connsiteX1" fmla="*/ 1132116 w 1132116"/>
                  <a:gd name="connsiteY1" fmla="*/ 566058 h 1132116"/>
                  <a:gd name="connsiteX2" fmla="*/ 566058 w 1132116"/>
                  <a:gd name="connsiteY2" fmla="*/ 1132116 h 1132116"/>
                  <a:gd name="connsiteX3" fmla="*/ 0 w 1132116"/>
                  <a:gd name="connsiteY3" fmla="*/ 566058 h 1132116"/>
                  <a:gd name="connsiteX4" fmla="*/ 566058 w 1132116"/>
                  <a:gd name="connsiteY4" fmla="*/ 0 h 1132116"/>
                  <a:gd name="connsiteX5" fmla="*/ 566053 w 1132116"/>
                  <a:gd name="connsiteY5" fmla="*/ 76795 h 1132116"/>
                  <a:gd name="connsiteX6" fmla="*/ 76791 w 1132116"/>
                  <a:gd name="connsiteY6" fmla="*/ 566057 h 1132116"/>
                  <a:gd name="connsiteX7" fmla="*/ 566053 w 1132116"/>
                  <a:gd name="connsiteY7" fmla="*/ 1055319 h 1132116"/>
                  <a:gd name="connsiteX8" fmla="*/ 1055315 w 1132116"/>
                  <a:gd name="connsiteY8" fmla="*/ 566057 h 1132116"/>
                  <a:gd name="connsiteX9" fmla="*/ 566053 w 1132116"/>
                  <a:gd name="connsiteY9" fmla="*/ 76795 h 1132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32116" h="1132116">
                    <a:moveTo>
                      <a:pt x="566058" y="0"/>
                    </a:moveTo>
                    <a:cubicBezTo>
                      <a:pt x="878683" y="0"/>
                      <a:pt x="1132116" y="253433"/>
                      <a:pt x="1132116" y="566058"/>
                    </a:cubicBezTo>
                    <a:cubicBezTo>
                      <a:pt x="1132116" y="878683"/>
                      <a:pt x="878683" y="1132116"/>
                      <a:pt x="566058" y="1132116"/>
                    </a:cubicBezTo>
                    <a:cubicBezTo>
                      <a:pt x="253433" y="1132116"/>
                      <a:pt x="0" y="878683"/>
                      <a:pt x="0" y="566058"/>
                    </a:cubicBezTo>
                    <a:cubicBezTo>
                      <a:pt x="0" y="253433"/>
                      <a:pt x="253433" y="0"/>
                      <a:pt x="566058" y="0"/>
                    </a:cubicBezTo>
                    <a:close/>
                    <a:moveTo>
                      <a:pt x="566053" y="76795"/>
                    </a:moveTo>
                    <a:cubicBezTo>
                      <a:pt x="295841" y="76795"/>
                      <a:pt x="76791" y="295845"/>
                      <a:pt x="76791" y="566057"/>
                    </a:cubicBezTo>
                    <a:cubicBezTo>
                      <a:pt x="76791" y="836269"/>
                      <a:pt x="295841" y="1055319"/>
                      <a:pt x="566053" y="1055319"/>
                    </a:cubicBezTo>
                    <a:cubicBezTo>
                      <a:pt x="836265" y="1055319"/>
                      <a:pt x="1055315" y="836269"/>
                      <a:pt x="1055315" y="566057"/>
                    </a:cubicBezTo>
                    <a:cubicBezTo>
                      <a:pt x="1055315" y="295845"/>
                      <a:pt x="836265" y="76795"/>
                      <a:pt x="566053" y="76795"/>
                    </a:cubicBezTo>
                    <a:close/>
                  </a:path>
                </a:pathLst>
              </a:custGeom>
              <a:solidFill>
                <a:srgbClr val="F18F01"/>
              </a:solidFill>
              <a:ln>
                <a:solidFill>
                  <a:srgbClr val="F18F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2243CCB-1609-4730-BBA1-2512A34DD8E4}"/>
                  </a:ext>
                </a:extLst>
              </p:cNvPr>
              <p:cNvSpPr/>
              <p:nvPr/>
            </p:nvSpPr>
            <p:spPr>
              <a:xfrm>
                <a:off x="6681562" y="1746121"/>
                <a:ext cx="846417" cy="846417"/>
              </a:xfrm>
              <a:prstGeom prst="ellipse">
                <a:avLst/>
              </a:prstGeom>
              <a:solidFill>
                <a:srgbClr val="F18F01"/>
              </a:solidFill>
              <a:ln>
                <a:solidFill>
                  <a:srgbClr val="F18F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a-IR" dirty="0">
                    <a:cs typeface="B Yekan" panose="00000400000000000000" pitchFamily="2" charset="-78"/>
                  </a:rPr>
                  <a:t>3</a:t>
                </a:r>
                <a:endParaRPr lang="id-ID" dirty="0">
                  <a:cs typeface="B Yekan" panose="00000400000000000000" pitchFamily="2" charset="-78"/>
                </a:endParaRPr>
              </a:p>
            </p:txBody>
          </p:sp>
        </p:grp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A8F9FB65-928B-4550-9D75-1F03E65E082E}"/>
                </a:ext>
              </a:extLst>
            </p:cNvPr>
            <p:cNvSpPr/>
            <p:nvPr/>
          </p:nvSpPr>
          <p:spPr>
            <a:xfrm>
              <a:off x="7352778" y="1969894"/>
              <a:ext cx="2948826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fa-I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  <a:cs typeface="B Yekan" panose="00000400000000000000" pitchFamily="2" charset="-78"/>
                </a:rPr>
                <a:t>در این قسمت چکیده‌ای بسیار کوتاه راجع به تیتر خود وارد کنید.</a:t>
              </a:r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B Yekan" panose="00000400000000000000" pitchFamily="2" charset="-78"/>
              </a:endParaRPr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8266B2DF-461B-43BE-BBAF-1E6CDD19591C}"/>
                </a:ext>
              </a:extLst>
            </p:cNvPr>
            <p:cNvSpPr/>
            <p:nvPr/>
          </p:nvSpPr>
          <p:spPr>
            <a:xfrm>
              <a:off x="8317283" y="1665822"/>
              <a:ext cx="196296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fa-IR" sz="1600" b="1" dirty="0">
                  <a:solidFill>
                    <a:srgbClr val="F18F01"/>
                  </a:solidFill>
                  <a:latin typeface="Raleway" panose="020B0503030101060003" pitchFamily="34" charset="0"/>
                  <a:ea typeface="Times New Roman" panose="02020603050405020304" pitchFamily="18" charset="0"/>
                  <a:cs typeface="B Yekan" panose="00000400000000000000" pitchFamily="2" charset="-78"/>
                </a:rPr>
                <a:t>تیتر خود را وارد کنید</a:t>
              </a:r>
              <a:endParaRPr lang="id-ID" sz="1600" b="1" dirty="0">
                <a:solidFill>
                  <a:srgbClr val="F18F01"/>
                </a:solidFill>
                <a:latin typeface="Raleway" panose="020B0503030101060003" pitchFamily="34" charset="0"/>
                <a:cs typeface="B Yekan" panose="00000400000000000000" pitchFamily="2" charset="-78"/>
              </a:endParaRPr>
            </a:p>
          </p:txBody>
        </p:sp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C3010C9F-DED8-40A9-A488-938AC3BB896E}"/>
              </a:ext>
            </a:extLst>
          </p:cNvPr>
          <p:cNvGrpSpPr/>
          <p:nvPr/>
        </p:nvGrpSpPr>
        <p:grpSpPr>
          <a:xfrm>
            <a:off x="7352778" y="4305186"/>
            <a:ext cx="3513045" cy="827292"/>
            <a:chOff x="7352778" y="1665822"/>
            <a:chExt cx="3513045" cy="827292"/>
          </a:xfrm>
        </p:grpSpPr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69DA8EA8-7A4D-4EF6-8DD4-C23B7DED0F8D}"/>
                </a:ext>
              </a:extLst>
            </p:cNvPr>
            <p:cNvGrpSpPr/>
            <p:nvPr/>
          </p:nvGrpSpPr>
          <p:grpSpPr>
            <a:xfrm>
              <a:off x="10366497" y="1804322"/>
              <a:ext cx="499326" cy="499326"/>
              <a:chOff x="6538714" y="1603273"/>
              <a:chExt cx="1132116" cy="1132116"/>
            </a:xfrm>
            <a:solidFill>
              <a:schemeClr val="accent3"/>
            </a:solidFill>
          </p:grpSpPr>
          <p:sp>
            <p:nvSpPr>
              <p:cNvPr id="168" name="Freeform: Shape 13">
                <a:extLst>
                  <a:ext uri="{FF2B5EF4-FFF2-40B4-BE49-F238E27FC236}">
                    <a16:creationId xmlns:a16="http://schemas.microsoft.com/office/drawing/2014/main" id="{32F50590-D476-4A77-AC1A-213D49FAF2BF}"/>
                  </a:ext>
                </a:extLst>
              </p:cNvPr>
              <p:cNvSpPr/>
              <p:nvPr/>
            </p:nvSpPr>
            <p:spPr>
              <a:xfrm>
                <a:off x="6538714" y="1603273"/>
                <a:ext cx="1132116" cy="1132116"/>
              </a:xfrm>
              <a:custGeom>
                <a:avLst/>
                <a:gdLst>
                  <a:gd name="connsiteX0" fmla="*/ 566058 w 1132116"/>
                  <a:gd name="connsiteY0" fmla="*/ 0 h 1132116"/>
                  <a:gd name="connsiteX1" fmla="*/ 1132116 w 1132116"/>
                  <a:gd name="connsiteY1" fmla="*/ 566058 h 1132116"/>
                  <a:gd name="connsiteX2" fmla="*/ 566058 w 1132116"/>
                  <a:gd name="connsiteY2" fmla="*/ 1132116 h 1132116"/>
                  <a:gd name="connsiteX3" fmla="*/ 0 w 1132116"/>
                  <a:gd name="connsiteY3" fmla="*/ 566058 h 1132116"/>
                  <a:gd name="connsiteX4" fmla="*/ 566058 w 1132116"/>
                  <a:gd name="connsiteY4" fmla="*/ 0 h 1132116"/>
                  <a:gd name="connsiteX5" fmla="*/ 566053 w 1132116"/>
                  <a:gd name="connsiteY5" fmla="*/ 76795 h 1132116"/>
                  <a:gd name="connsiteX6" fmla="*/ 76791 w 1132116"/>
                  <a:gd name="connsiteY6" fmla="*/ 566057 h 1132116"/>
                  <a:gd name="connsiteX7" fmla="*/ 566053 w 1132116"/>
                  <a:gd name="connsiteY7" fmla="*/ 1055319 h 1132116"/>
                  <a:gd name="connsiteX8" fmla="*/ 1055315 w 1132116"/>
                  <a:gd name="connsiteY8" fmla="*/ 566057 h 1132116"/>
                  <a:gd name="connsiteX9" fmla="*/ 566053 w 1132116"/>
                  <a:gd name="connsiteY9" fmla="*/ 76795 h 1132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32116" h="1132116">
                    <a:moveTo>
                      <a:pt x="566058" y="0"/>
                    </a:moveTo>
                    <a:cubicBezTo>
                      <a:pt x="878683" y="0"/>
                      <a:pt x="1132116" y="253433"/>
                      <a:pt x="1132116" y="566058"/>
                    </a:cubicBezTo>
                    <a:cubicBezTo>
                      <a:pt x="1132116" y="878683"/>
                      <a:pt x="878683" y="1132116"/>
                      <a:pt x="566058" y="1132116"/>
                    </a:cubicBezTo>
                    <a:cubicBezTo>
                      <a:pt x="253433" y="1132116"/>
                      <a:pt x="0" y="878683"/>
                      <a:pt x="0" y="566058"/>
                    </a:cubicBezTo>
                    <a:cubicBezTo>
                      <a:pt x="0" y="253433"/>
                      <a:pt x="253433" y="0"/>
                      <a:pt x="566058" y="0"/>
                    </a:cubicBezTo>
                    <a:close/>
                    <a:moveTo>
                      <a:pt x="566053" y="76795"/>
                    </a:moveTo>
                    <a:cubicBezTo>
                      <a:pt x="295841" y="76795"/>
                      <a:pt x="76791" y="295845"/>
                      <a:pt x="76791" y="566057"/>
                    </a:cubicBezTo>
                    <a:cubicBezTo>
                      <a:pt x="76791" y="836269"/>
                      <a:pt x="295841" y="1055319"/>
                      <a:pt x="566053" y="1055319"/>
                    </a:cubicBezTo>
                    <a:cubicBezTo>
                      <a:pt x="836265" y="1055319"/>
                      <a:pt x="1055315" y="836269"/>
                      <a:pt x="1055315" y="566057"/>
                    </a:cubicBezTo>
                    <a:cubicBezTo>
                      <a:pt x="1055315" y="295845"/>
                      <a:pt x="836265" y="76795"/>
                      <a:pt x="566053" y="76795"/>
                    </a:cubicBezTo>
                    <a:close/>
                  </a:path>
                </a:pathLst>
              </a:custGeom>
              <a:solidFill>
                <a:srgbClr val="0E5AA4"/>
              </a:solidFill>
              <a:ln>
                <a:solidFill>
                  <a:srgbClr val="0E5AA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169" name="Oval 168">
                <a:extLst>
                  <a:ext uri="{FF2B5EF4-FFF2-40B4-BE49-F238E27FC236}">
                    <a16:creationId xmlns:a16="http://schemas.microsoft.com/office/drawing/2014/main" id="{09ABFA69-117A-4D1B-8FAE-DDB79F6503F5}"/>
                  </a:ext>
                </a:extLst>
              </p:cNvPr>
              <p:cNvSpPr/>
              <p:nvPr/>
            </p:nvSpPr>
            <p:spPr>
              <a:xfrm>
                <a:off x="6681562" y="1746121"/>
                <a:ext cx="846417" cy="846417"/>
              </a:xfrm>
              <a:prstGeom prst="ellipse">
                <a:avLst/>
              </a:prstGeom>
              <a:solidFill>
                <a:srgbClr val="0E5AA4"/>
              </a:solidFill>
              <a:ln>
                <a:solidFill>
                  <a:srgbClr val="0E5AA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a-IR" dirty="0">
                    <a:cs typeface="B Yekan" panose="00000400000000000000" pitchFamily="2" charset="-78"/>
                  </a:rPr>
                  <a:t>4</a:t>
                </a:r>
                <a:endParaRPr lang="id-ID" dirty="0">
                  <a:cs typeface="B Yekan" panose="00000400000000000000" pitchFamily="2" charset="-78"/>
                </a:endParaRPr>
              </a:p>
            </p:txBody>
          </p:sp>
        </p:grp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38F3C835-DB58-43B7-86DA-5E04C59C1509}"/>
                </a:ext>
              </a:extLst>
            </p:cNvPr>
            <p:cNvSpPr/>
            <p:nvPr/>
          </p:nvSpPr>
          <p:spPr>
            <a:xfrm>
              <a:off x="7352778" y="1969894"/>
              <a:ext cx="2948826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fa-I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  <a:cs typeface="B Yekan" panose="00000400000000000000" pitchFamily="2" charset="-78"/>
                </a:rPr>
                <a:t>در این قسمت چکیده‌ای بسیار کوتاه راجع به تیتر خود وارد کنید.</a:t>
              </a:r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B Yekan" panose="00000400000000000000" pitchFamily="2" charset="-78"/>
              </a:endParaRPr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35418332-9D45-4B24-9DDE-AA46F489D3C0}"/>
                </a:ext>
              </a:extLst>
            </p:cNvPr>
            <p:cNvSpPr/>
            <p:nvPr/>
          </p:nvSpPr>
          <p:spPr>
            <a:xfrm>
              <a:off x="8317283" y="1665822"/>
              <a:ext cx="1962961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fa-IR" sz="1600" b="1" dirty="0">
                  <a:solidFill>
                    <a:srgbClr val="0E5AA4"/>
                  </a:solidFill>
                  <a:latin typeface="Raleway" panose="020B0503030101060003" pitchFamily="34" charset="0"/>
                  <a:ea typeface="Times New Roman" panose="02020603050405020304" pitchFamily="18" charset="0"/>
                  <a:cs typeface="B Yekan" panose="00000400000000000000" pitchFamily="2" charset="-78"/>
                </a:rPr>
                <a:t>تیتر خود را وارد کنید</a:t>
              </a:r>
              <a:endParaRPr lang="id-ID" sz="1600" b="1" dirty="0">
                <a:solidFill>
                  <a:srgbClr val="0E5AA4"/>
                </a:solidFill>
                <a:latin typeface="Raleway" panose="020B0503030101060003" pitchFamily="34" charset="0"/>
                <a:cs typeface="B Yekan" panose="00000400000000000000" pitchFamily="2" charset="-78"/>
              </a:endParaRPr>
            </a:p>
          </p:txBody>
        </p:sp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AD7310DA-76A8-4536-9FC8-0B65BFA8E5E9}"/>
              </a:ext>
            </a:extLst>
          </p:cNvPr>
          <p:cNvGrpSpPr/>
          <p:nvPr/>
        </p:nvGrpSpPr>
        <p:grpSpPr>
          <a:xfrm>
            <a:off x="7352778" y="5294744"/>
            <a:ext cx="3513045" cy="827292"/>
            <a:chOff x="7352778" y="1665822"/>
            <a:chExt cx="3513045" cy="827292"/>
          </a:xfrm>
        </p:grpSpPr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5C00A834-48C7-4896-91D4-B2E9D978CFC1}"/>
                </a:ext>
              </a:extLst>
            </p:cNvPr>
            <p:cNvGrpSpPr/>
            <p:nvPr/>
          </p:nvGrpSpPr>
          <p:grpSpPr>
            <a:xfrm>
              <a:off x="10366497" y="1804322"/>
              <a:ext cx="499326" cy="499326"/>
              <a:chOff x="6538714" y="1603273"/>
              <a:chExt cx="1132116" cy="1132116"/>
            </a:xfrm>
            <a:solidFill>
              <a:schemeClr val="accent3"/>
            </a:solidFill>
          </p:grpSpPr>
          <p:sp>
            <p:nvSpPr>
              <p:cNvPr id="174" name="Freeform: Shape 13">
                <a:extLst>
                  <a:ext uri="{FF2B5EF4-FFF2-40B4-BE49-F238E27FC236}">
                    <a16:creationId xmlns:a16="http://schemas.microsoft.com/office/drawing/2014/main" id="{82B03017-A315-465B-8C7F-9911E4ADE640}"/>
                  </a:ext>
                </a:extLst>
              </p:cNvPr>
              <p:cNvSpPr/>
              <p:nvPr/>
            </p:nvSpPr>
            <p:spPr>
              <a:xfrm>
                <a:off x="6538714" y="1603273"/>
                <a:ext cx="1132116" cy="1132116"/>
              </a:xfrm>
              <a:custGeom>
                <a:avLst/>
                <a:gdLst>
                  <a:gd name="connsiteX0" fmla="*/ 566058 w 1132116"/>
                  <a:gd name="connsiteY0" fmla="*/ 0 h 1132116"/>
                  <a:gd name="connsiteX1" fmla="*/ 1132116 w 1132116"/>
                  <a:gd name="connsiteY1" fmla="*/ 566058 h 1132116"/>
                  <a:gd name="connsiteX2" fmla="*/ 566058 w 1132116"/>
                  <a:gd name="connsiteY2" fmla="*/ 1132116 h 1132116"/>
                  <a:gd name="connsiteX3" fmla="*/ 0 w 1132116"/>
                  <a:gd name="connsiteY3" fmla="*/ 566058 h 1132116"/>
                  <a:gd name="connsiteX4" fmla="*/ 566058 w 1132116"/>
                  <a:gd name="connsiteY4" fmla="*/ 0 h 1132116"/>
                  <a:gd name="connsiteX5" fmla="*/ 566053 w 1132116"/>
                  <a:gd name="connsiteY5" fmla="*/ 76795 h 1132116"/>
                  <a:gd name="connsiteX6" fmla="*/ 76791 w 1132116"/>
                  <a:gd name="connsiteY6" fmla="*/ 566057 h 1132116"/>
                  <a:gd name="connsiteX7" fmla="*/ 566053 w 1132116"/>
                  <a:gd name="connsiteY7" fmla="*/ 1055319 h 1132116"/>
                  <a:gd name="connsiteX8" fmla="*/ 1055315 w 1132116"/>
                  <a:gd name="connsiteY8" fmla="*/ 566057 h 1132116"/>
                  <a:gd name="connsiteX9" fmla="*/ 566053 w 1132116"/>
                  <a:gd name="connsiteY9" fmla="*/ 76795 h 1132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32116" h="1132116">
                    <a:moveTo>
                      <a:pt x="566058" y="0"/>
                    </a:moveTo>
                    <a:cubicBezTo>
                      <a:pt x="878683" y="0"/>
                      <a:pt x="1132116" y="253433"/>
                      <a:pt x="1132116" y="566058"/>
                    </a:cubicBezTo>
                    <a:cubicBezTo>
                      <a:pt x="1132116" y="878683"/>
                      <a:pt x="878683" y="1132116"/>
                      <a:pt x="566058" y="1132116"/>
                    </a:cubicBezTo>
                    <a:cubicBezTo>
                      <a:pt x="253433" y="1132116"/>
                      <a:pt x="0" y="878683"/>
                      <a:pt x="0" y="566058"/>
                    </a:cubicBezTo>
                    <a:cubicBezTo>
                      <a:pt x="0" y="253433"/>
                      <a:pt x="253433" y="0"/>
                      <a:pt x="566058" y="0"/>
                    </a:cubicBezTo>
                    <a:close/>
                    <a:moveTo>
                      <a:pt x="566053" y="76795"/>
                    </a:moveTo>
                    <a:cubicBezTo>
                      <a:pt x="295841" y="76795"/>
                      <a:pt x="76791" y="295845"/>
                      <a:pt x="76791" y="566057"/>
                    </a:cubicBezTo>
                    <a:cubicBezTo>
                      <a:pt x="76791" y="836269"/>
                      <a:pt x="295841" y="1055319"/>
                      <a:pt x="566053" y="1055319"/>
                    </a:cubicBezTo>
                    <a:cubicBezTo>
                      <a:pt x="836265" y="1055319"/>
                      <a:pt x="1055315" y="836269"/>
                      <a:pt x="1055315" y="566057"/>
                    </a:cubicBezTo>
                    <a:cubicBezTo>
                      <a:pt x="1055315" y="295845"/>
                      <a:pt x="836265" y="76795"/>
                      <a:pt x="566053" y="76795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175" name="Oval 174">
                <a:extLst>
                  <a:ext uri="{FF2B5EF4-FFF2-40B4-BE49-F238E27FC236}">
                    <a16:creationId xmlns:a16="http://schemas.microsoft.com/office/drawing/2014/main" id="{A4327C34-1A68-47BF-9543-37EFF73369BE}"/>
                  </a:ext>
                </a:extLst>
              </p:cNvPr>
              <p:cNvSpPr/>
              <p:nvPr/>
            </p:nvSpPr>
            <p:spPr>
              <a:xfrm>
                <a:off x="6681562" y="1746121"/>
                <a:ext cx="846417" cy="846417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a-IR" dirty="0">
                    <a:cs typeface="B Yekan" panose="00000400000000000000" pitchFamily="2" charset="-78"/>
                  </a:rPr>
                  <a:t>5</a:t>
                </a:r>
                <a:endParaRPr lang="id-ID" dirty="0">
                  <a:cs typeface="B Yekan" panose="00000400000000000000" pitchFamily="2" charset="-78"/>
                </a:endParaRPr>
              </a:p>
            </p:txBody>
          </p:sp>
        </p:grp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CC44231C-C57B-43DA-85F2-291FC5296E50}"/>
                </a:ext>
              </a:extLst>
            </p:cNvPr>
            <p:cNvSpPr/>
            <p:nvPr/>
          </p:nvSpPr>
          <p:spPr>
            <a:xfrm>
              <a:off x="7352778" y="1969894"/>
              <a:ext cx="2948826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fa-I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  <a:cs typeface="B Yekan" panose="00000400000000000000" pitchFamily="2" charset="-78"/>
                </a:rPr>
                <a:t>در این قسمت چکیده‌ای بسیار کوتاه راجع به تیتر خود وارد کنید.</a:t>
              </a:r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B Yekan" panose="00000400000000000000" pitchFamily="2" charset="-78"/>
              </a:endParaRP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D0158CB5-6224-49F4-B192-3AD0BE65A841}"/>
                </a:ext>
              </a:extLst>
            </p:cNvPr>
            <p:cNvSpPr/>
            <p:nvPr/>
          </p:nvSpPr>
          <p:spPr>
            <a:xfrm>
              <a:off x="8317283" y="1665822"/>
              <a:ext cx="1962961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fa-IR" sz="1600" b="1" dirty="0">
                  <a:solidFill>
                    <a:schemeClr val="bg2">
                      <a:lumMod val="50000"/>
                    </a:schemeClr>
                  </a:solidFill>
                  <a:latin typeface="Raleway" panose="020B0503030101060003" pitchFamily="34" charset="0"/>
                  <a:ea typeface="Times New Roman" panose="02020603050405020304" pitchFamily="18" charset="0"/>
                  <a:cs typeface="B Yekan" panose="00000400000000000000" pitchFamily="2" charset="-78"/>
                </a:rPr>
                <a:t>تیتر خود را وارد کنید</a:t>
              </a:r>
              <a:endParaRPr lang="id-ID" sz="1600" b="1" dirty="0">
                <a:solidFill>
                  <a:schemeClr val="bg2">
                    <a:lumMod val="50000"/>
                  </a:schemeClr>
                </a:solidFill>
                <a:latin typeface="Raleway" panose="020B0503030101060003" pitchFamily="34" charset="0"/>
                <a:cs typeface="B Yekan" panose="00000400000000000000" pitchFamily="2" charset="-78"/>
              </a:endParaRPr>
            </a:p>
          </p:txBody>
        </p: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2095AF6-8730-4391-B559-46B44AB7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b="1" dirty="0">
                <a:cs typeface="B Yekan" panose="00000400000000000000" pitchFamily="2" charset="-78"/>
              </a:rPr>
              <a:t>2</a:t>
            </a:r>
            <a:endParaRPr lang="en-US" b="1" dirty="0">
              <a:cs typeface="B Yekan" panose="00000400000000000000" pitchFamily="2" charset="-7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0740F5-3E6F-8373-8500-7EBBD84BC6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864" y="1129528"/>
            <a:ext cx="11067055" cy="5506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4465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8C8A8E5-F71A-4753-8CD3-385D7584E844}"/>
              </a:ext>
            </a:extLst>
          </p:cNvPr>
          <p:cNvSpPr/>
          <p:nvPr/>
        </p:nvSpPr>
        <p:spPr>
          <a:xfrm>
            <a:off x="2633355" y="351687"/>
            <a:ext cx="1617788" cy="691668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black"/>
                </a:solidFill>
                <a:latin typeface="Calibri" panose="020F0502020204030204"/>
                <a:cs typeface="B Yekan" panose="00000400000000000000" pitchFamily="2" charset="-78"/>
              </a:rPr>
              <a:t>نمودار ها </a:t>
            </a:r>
            <a:endParaRPr lang="en-US" dirty="0">
              <a:solidFill>
                <a:prstClr val="black"/>
              </a:solidFill>
              <a:latin typeface="Calibri" panose="020F0502020204030204"/>
              <a:cs typeface="B Yekan" panose="00000400000000000000" pitchFamily="2" charset="-78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9306F83-60D6-4002-8440-747D4971D767}"/>
              </a:ext>
            </a:extLst>
          </p:cNvPr>
          <p:cNvSpPr/>
          <p:nvPr/>
        </p:nvSpPr>
        <p:spPr>
          <a:xfrm>
            <a:off x="6144495" y="351687"/>
            <a:ext cx="1617788" cy="691668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dirty="0">
                <a:solidFill>
                  <a:prstClr val="black"/>
                </a:solidFill>
                <a:latin typeface="Calibri" panose="020F0502020204030204"/>
                <a:cs typeface="B Yekan" panose="00000400000000000000" pitchFamily="2" charset="-78"/>
              </a:rPr>
              <a:t>قیمت آنلاین ارز ها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B Yekan" panose="00000400000000000000" pitchFamily="2" charset="-78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54D2D54-398F-4424-BA03-8924E5C68A14}"/>
              </a:ext>
            </a:extLst>
          </p:cNvPr>
          <p:cNvSpPr/>
          <p:nvPr/>
        </p:nvSpPr>
        <p:spPr>
          <a:xfrm>
            <a:off x="4388925" y="351687"/>
            <a:ext cx="1617788" cy="691668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B Yekan" panose="00000400000000000000" pitchFamily="2" charset="-78"/>
              </a:rPr>
              <a:t>تقویم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B Yekan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7D15C63-1139-40E0-AB72-FA87E7844D5D}"/>
              </a:ext>
            </a:extLst>
          </p:cNvPr>
          <p:cNvSpPr/>
          <p:nvPr/>
        </p:nvSpPr>
        <p:spPr>
          <a:xfrm>
            <a:off x="7900065" y="343451"/>
            <a:ext cx="1617788" cy="691668"/>
          </a:xfrm>
          <a:prstGeom prst="round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  <a:latin typeface="Calibri" panose="020F0502020204030204"/>
              </a:rPr>
              <a:t>Log in &amp;</a:t>
            </a:r>
            <a:r>
              <a:rPr lang="fa-IR" dirty="0">
                <a:solidFill>
                  <a:schemeClr val="bg1"/>
                </a:solidFill>
                <a:latin typeface="Calibri" panose="020F0502020204030204"/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database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29C8635-69D5-4078-97E3-8EBB90B4F78F}"/>
              </a:ext>
            </a:extLst>
          </p:cNvPr>
          <p:cNvSpPr/>
          <p:nvPr/>
        </p:nvSpPr>
        <p:spPr>
          <a:xfrm>
            <a:off x="9655635" y="351687"/>
            <a:ext cx="1617788" cy="691668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a-IR" dirty="0">
                <a:solidFill>
                  <a:prstClr val="black"/>
                </a:solidFill>
                <a:latin typeface="Calibri" panose="020F0502020204030204"/>
                <a:cs typeface="B Yekan" panose="00000400000000000000" pitchFamily="2" charset="-78"/>
              </a:rPr>
              <a:t>طرح کلی</a:t>
            </a:r>
            <a:endParaRPr lang="en-US" dirty="0">
              <a:solidFill>
                <a:prstClr val="black"/>
              </a:solidFill>
              <a:latin typeface="Calibri" panose="020F0502020204030204"/>
              <a:cs typeface="B Yekan" panose="00000400000000000000" pitchFamily="2" charset="-78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5601D7A-3D6D-4578-BA3F-F73A0014F91A}"/>
              </a:ext>
            </a:extLst>
          </p:cNvPr>
          <p:cNvSpPr/>
          <p:nvPr/>
        </p:nvSpPr>
        <p:spPr>
          <a:xfrm>
            <a:off x="615863" y="1437449"/>
            <a:ext cx="10960274" cy="5205052"/>
          </a:xfrm>
          <a:prstGeom prst="rect">
            <a:avLst/>
          </a:prstGeom>
          <a:ln>
            <a:solidFill>
              <a:srgbClr val="E7EB58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C5F24FE-DF35-4E63-8E28-0DE0176A3AFE}"/>
              </a:ext>
            </a:extLst>
          </p:cNvPr>
          <p:cNvSpPr/>
          <p:nvPr/>
        </p:nvSpPr>
        <p:spPr>
          <a:xfrm>
            <a:off x="877785" y="351687"/>
            <a:ext cx="1617788" cy="691668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B Yekan" panose="00000400000000000000" pitchFamily="2" charset="-78"/>
              </a:rPr>
              <a:t>ساعت و گیف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B Yekan" panose="00000400000000000000" pitchFamily="2" charset="-78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4BA5751-DEE4-4FCC-B88F-8D5446359C36}"/>
              </a:ext>
            </a:extLst>
          </p:cNvPr>
          <p:cNvGrpSpPr/>
          <p:nvPr/>
        </p:nvGrpSpPr>
        <p:grpSpPr>
          <a:xfrm>
            <a:off x="7352778" y="1478065"/>
            <a:ext cx="3513045" cy="1042736"/>
            <a:chOff x="7352778" y="1665822"/>
            <a:chExt cx="3513045" cy="1042736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07BB1370-EF48-4E53-8DB1-B8E5DF4A54B0}"/>
                </a:ext>
              </a:extLst>
            </p:cNvPr>
            <p:cNvGrpSpPr/>
            <p:nvPr/>
          </p:nvGrpSpPr>
          <p:grpSpPr>
            <a:xfrm>
              <a:off x="10366497" y="1804322"/>
              <a:ext cx="499326" cy="499326"/>
              <a:chOff x="6538714" y="1603273"/>
              <a:chExt cx="1132116" cy="1132116"/>
            </a:xfrm>
            <a:solidFill>
              <a:schemeClr val="accent3"/>
            </a:solidFill>
          </p:grpSpPr>
          <p:sp>
            <p:nvSpPr>
              <p:cNvPr id="150" name="Freeform: Shape 13">
                <a:extLst>
                  <a:ext uri="{FF2B5EF4-FFF2-40B4-BE49-F238E27FC236}">
                    <a16:creationId xmlns:a16="http://schemas.microsoft.com/office/drawing/2014/main" id="{018462FC-82C5-40E9-B30D-1EB60FA615E9}"/>
                  </a:ext>
                </a:extLst>
              </p:cNvPr>
              <p:cNvSpPr/>
              <p:nvPr/>
            </p:nvSpPr>
            <p:spPr>
              <a:xfrm>
                <a:off x="6538714" y="1603273"/>
                <a:ext cx="1132116" cy="1132116"/>
              </a:xfrm>
              <a:custGeom>
                <a:avLst/>
                <a:gdLst>
                  <a:gd name="connsiteX0" fmla="*/ 566058 w 1132116"/>
                  <a:gd name="connsiteY0" fmla="*/ 0 h 1132116"/>
                  <a:gd name="connsiteX1" fmla="*/ 1132116 w 1132116"/>
                  <a:gd name="connsiteY1" fmla="*/ 566058 h 1132116"/>
                  <a:gd name="connsiteX2" fmla="*/ 566058 w 1132116"/>
                  <a:gd name="connsiteY2" fmla="*/ 1132116 h 1132116"/>
                  <a:gd name="connsiteX3" fmla="*/ 0 w 1132116"/>
                  <a:gd name="connsiteY3" fmla="*/ 566058 h 1132116"/>
                  <a:gd name="connsiteX4" fmla="*/ 566058 w 1132116"/>
                  <a:gd name="connsiteY4" fmla="*/ 0 h 1132116"/>
                  <a:gd name="connsiteX5" fmla="*/ 566053 w 1132116"/>
                  <a:gd name="connsiteY5" fmla="*/ 76795 h 1132116"/>
                  <a:gd name="connsiteX6" fmla="*/ 76791 w 1132116"/>
                  <a:gd name="connsiteY6" fmla="*/ 566057 h 1132116"/>
                  <a:gd name="connsiteX7" fmla="*/ 566053 w 1132116"/>
                  <a:gd name="connsiteY7" fmla="*/ 1055319 h 1132116"/>
                  <a:gd name="connsiteX8" fmla="*/ 1055315 w 1132116"/>
                  <a:gd name="connsiteY8" fmla="*/ 566057 h 1132116"/>
                  <a:gd name="connsiteX9" fmla="*/ 566053 w 1132116"/>
                  <a:gd name="connsiteY9" fmla="*/ 76795 h 1132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32116" h="1132116">
                    <a:moveTo>
                      <a:pt x="566058" y="0"/>
                    </a:moveTo>
                    <a:cubicBezTo>
                      <a:pt x="878683" y="0"/>
                      <a:pt x="1132116" y="253433"/>
                      <a:pt x="1132116" y="566058"/>
                    </a:cubicBezTo>
                    <a:cubicBezTo>
                      <a:pt x="1132116" y="878683"/>
                      <a:pt x="878683" y="1132116"/>
                      <a:pt x="566058" y="1132116"/>
                    </a:cubicBezTo>
                    <a:cubicBezTo>
                      <a:pt x="253433" y="1132116"/>
                      <a:pt x="0" y="878683"/>
                      <a:pt x="0" y="566058"/>
                    </a:cubicBezTo>
                    <a:cubicBezTo>
                      <a:pt x="0" y="253433"/>
                      <a:pt x="253433" y="0"/>
                      <a:pt x="566058" y="0"/>
                    </a:cubicBezTo>
                    <a:close/>
                    <a:moveTo>
                      <a:pt x="566053" y="76795"/>
                    </a:moveTo>
                    <a:cubicBezTo>
                      <a:pt x="295841" y="76795"/>
                      <a:pt x="76791" y="295845"/>
                      <a:pt x="76791" y="566057"/>
                    </a:cubicBezTo>
                    <a:cubicBezTo>
                      <a:pt x="76791" y="836269"/>
                      <a:pt x="295841" y="1055319"/>
                      <a:pt x="566053" y="1055319"/>
                    </a:cubicBezTo>
                    <a:cubicBezTo>
                      <a:pt x="836265" y="1055319"/>
                      <a:pt x="1055315" y="836269"/>
                      <a:pt x="1055315" y="566057"/>
                    </a:cubicBezTo>
                    <a:cubicBezTo>
                      <a:pt x="1055315" y="295845"/>
                      <a:pt x="836265" y="76795"/>
                      <a:pt x="566053" y="76795"/>
                    </a:cubicBezTo>
                    <a:close/>
                  </a:path>
                </a:pathLst>
              </a:custGeom>
              <a:solidFill>
                <a:srgbClr val="5B1646"/>
              </a:solidFill>
              <a:ln>
                <a:solidFill>
                  <a:srgbClr val="5B16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E3EF275B-3A36-4387-91A8-FBE7215388C3}"/>
                  </a:ext>
                </a:extLst>
              </p:cNvPr>
              <p:cNvSpPr/>
              <p:nvPr/>
            </p:nvSpPr>
            <p:spPr>
              <a:xfrm>
                <a:off x="6681562" y="1746121"/>
                <a:ext cx="846417" cy="846417"/>
              </a:xfrm>
              <a:prstGeom prst="ellipse">
                <a:avLst/>
              </a:prstGeom>
              <a:solidFill>
                <a:srgbClr val="5B1646"/>
              </a:solidFill>
              <a:ln>
                <a:solidFill>
                  <a:srgbClr val="5B16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a-IR" dirty="0">
                    <a:cs typeface="B Yekan" panose="00000400000000000000" pitchFamily="2" charset="-78"/>
                  </a:rPr>
                  <a:t>1</a:t>
                </a:r>
                <a:endParaRPr lang="id-ID" dirty="0">
                  <a:cs typeface="B Yekan" panose="00000400000000000000" pitchFamily="2" charset="-78"/>
                </a:endParaRPr>
              </a:p>
            </p:txBody>
          </p:sp>
        </p:grp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7E5622B6-F34D-431F-B81B-2B3686A54EF0}"/>
                </a:ext>
              </a:extLst>
            </p:cNvPr>
            <p:cNvSpPr/>
            <p:nvPr/>
          </p:nvSpPr>
          <p:spPr>
            <a:xfrm>
              <a:off x="7352778" y="1969894"/>
              <a:ext cx="2948826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fa-IR" sz="1400" dirty="0">
                  <a:solidFill>
                    <a:schemeClr val="bg1"/>
                  </a:solidFill>
                  <a:latin typeface="Tw Cen MT" panose="020B0602020104020603" pitchFamily="34" charset="0"/>
                  <a:cs typeface="B Yekan" panose="00000400000000000000" pitchFamily="2" charset="-78"/>
                </a:rPr>
                <a:t>برای بخش گرافیکی این برنامه از کتابخانه </a:t>
              </a:r>
              <a:endParaRPr lang="en-US" sz="1400" dirty="0">
                <a:solidFill>
                  <a:schemeClr val="bg1"/>
                </a:solidFill>
                <a:latin typeface="Tw Cen MT" panose="020B0602020104020603" pitchFamily="34" charset="0"/>
                <a:cs typeface="B Yekan" panose="00000400000000000000" pitchFamily="2" charset="-78"/>
              </a:endParaRPr>
            </a:p>
            <a:p>
              <a:pPr algn="r"/>
              <a:r>
                <a:rPr lang="fa-IR" sz="1400" dirty="0">
                  <a:solidFill>
                    <a:schemeClr val="bg1"/>
                  </a:solidFill>
                  <a:latin typeface="Tw Cen MT" panose="020B0602020104020603" pitchFamily="34" charset="0"/>
                  <a:cs typeface="B Yekan" panose="00000400000000000000" pitchFamily="2" charset="-78"/>
                </a:rPr>
                <a:t>استقاده شده است                </a:t>
              </a:r>
              <a:r>
                <a:rPr lang="en-US" sz="1400" dirty="0">
                  <a:solidFill>
                    <a:schemeClr val="bg1"/>
                  </a:solidFill>
                  <a:latin typeface="Tw Cen MT" panose="020B0602020104020603" pitchFamily="34" charset="0"/>
                  <a:cs typeface="B Yekan" panose="00000400000000000000" pitchFamily="2" charset="-78"/>
                </a:rPr>
                <a:t>PYQt5</a:t>
              </a:r>
              <a:r>
                <a:rPr lang="fa-IR" sz="1400" dirty="0">
                  <a:solidFill>
                    <a:schemeClr val="bg1"/>
                  </a:solidFill>
                  <a:latin typeface="Tw Cen MT" panose="020B0602020104020603" pitchFamily="34" charset="0"/>
                  <a:cs typeface="B Yekan" panose="00000400000000000000" pitchFamily="2" charset="-78"/>
                </a:rPr>
                <a:t> </a:t>
              </a:r>
              <a:r>
                <a:rPr lang="en-US" sz="1400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QtWidgets</a:t>
              </a:r>
              <a:r>
                <a:rPr lang="en-US" sz="1400" b="0" dirty="0">
                  <a:solidFill>
                    <a:schemeClr val="bg1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sz="1400" b="0" dirty="0" err="1">
                  <a:solidFill>
                    <a:schemeClr val="bg1"/>
                  </a:solidFill>
                  <a:effectLst/>
                  <a:latin typeface="Consolas" panose="020B0609020204030204" pitchFamily="49" charset="0"/>
                </a:rPr>
                <a:t>QtCore</a:t>
              </a:r>
              <a:r>
                <a:rPr lang="en-US" sz="1400" b="0" dirty="0">
                  <a:solidFill>
                    <a:schemeClr val="bg1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sz="1400" b="0" dirty="0" err="1">
                  <a:solidFill>
                    <a:schemeClr val="bg1"/>
                  </a:solidFill>
                  <a:effectLst/>
                  <a:latin typeface="Consolas" panose="020B0609020204030204" pitchFamily="49" charset="0"/>
                </a:rPr>
                <a:t>QtGui</a:t>
              </a:r>
              <a:r>
                <a:rPr lang="fa-IR" sz="1400" dirty="0">
                  <a:solidFill>
                    <a:schemeClr val="bg1"/>
                  </a:solidFill>
                  <a:latin typeface="Tw Cen MT" panose="020B0602020104020603" pitchFamily="34" charset="0"/>
                  <a:cs typeface="B Yekan" panose="00000400000000000000" pitchFamily="2" charset="-78"/>
                </a:rPr>
                <a:t>.</a:t>
              </a:r>
              <a:endParaRPr lang="en-US" sz="1400" dirty="0">
                <a:solidFill>
                  <a:schemeClr val="bg1"/>
                </a:solidFill>
                <a:latin typeface="Tw Cen MT" panose="020B0602020104020603" pitchFamily="34" charset="0"/>
                <a:cs typeface="B Yekan" panose="00000400000000000000" pitchFamily="2" charset="-78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C9DB444E-F296-46CF-9A52-A0FA7F9E1463}"/>
                </a:ext>
              </a:extLst>
            </p:cNvPr>
            <p:cNvSpPr/>
            <p:nvPr/>
          </p:nvSpPr>
          <p:spPr>
            <a:xfrm>
              <a:off x="8217075" y="1665822"/>
              <a:ext cx="206317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endParaRPr lang="id-ID" sz="1600" b="1" dirty="0">
                <a:solidFill>
                  <a:srgbClr val="5B1646"/>
                </a:solidFill>
                <a:latin typeface="Raleway" panose="020B0503030101060003" pitchFamily="34" charset="0"/>
                <a:cs typeface="B Yekan" panose="00000400000000000000" pitchFamily="2" charset="-78"/>
              </a:endParaRPr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8269E4F0-B4D0-47F2-9B2A-F0E9537A979D}"/>
              </a:ext>
            </a:extLst>
          </p:cNvPr>
          <p:cNvGrpSpPr/>
          <p:nvPr/>
        </p:nvGrpSpPr>
        <p:grpSpPr>
          <a:xfrm>
            <a:off x="7535263" y="3187882"/>
            <a:ext cx="3426793" cy="1279290"/>
            <a:chOff x="7439030" y="1665822"/>
            <a:chExt cx="3426793" cy="1279290"/>
          </a:xfrm>
        </p:grpSpPr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026C733D-BEBB-4DC6-A32F-3CE4342D25FF}"/>
                </a:ext>
              </a:extLst>
            </p:cNvPr>
            <p:cNvGrpSpPr/>
            <p:nvPr/>
          </p:nvGrpSpPr>
          <p:grpSpPr>
            <a:xfrm>
              <a:off x="10366497" y="1804322"/>
              <a:ext cx="499326" cy="499326"/>
              <a:chOff x="6538714" y="1603273"/>
              <a:chExt cx="1132116" cy="1132116"/>
            </a:xfrm>
            <a:solidFill>
              <a:schemeClr val="accent3"/>
            </a:solidFill>
          </p:grpSpPr>
          <p:sp>
            <p:nvSpPr>
              <p:cNvPr id="156" name="Freeform: Shape 13">
                <a:extLst>
                  <a:ext uri="{FF2B5EF4-FFF2-40B4-BE49-F238E27FC236}">
                    <a16:creationId xmlns:a16="http://schemas.microsoft.com/office/drawing/2014/main" id="{67F23F91-8E66-4D29-9418-E3F9341E12B5}"/>
                  </a:ext>
                </a:extLst>
              </p:cNvPr>
              <p:cNvSpPr/>
              <p:nvPr/>
            </p:nvSpPr>
            <p:spPr>
              <a:xfrm>
                <a:off x="6538714" y="1603273"/>
                <a:ext cx="1132116" cy="1132116"/>
              </a:xfrm>
              <a:custGeom>
                <a:avLst/>
                <a:gdLst>
                  <a:gd name="connsiteX0" fmla="*/ 566058 w 1132116"/>
                  <a:gd name="connsiteY0" fmla="*/ 0 h 1132116"/>
                  <a:gd name="connsiteX1" fmla="*/ 1132116 w 1132116"/>
                  <a:gd name="connsiteY1" fmla="*/ 566058 h 1132116"/>
                  <a:gd name="connsiteX2" fmla="*/ 566058 w 1132116"/>
                  <a:gd name="connsiteY2" fmla="*/ 1132116 h 1132116"/>
                  <a:gd name="connsiteX3" fmla="*/ 0 w 1132116"/>
                  <a:gd name="connsiteY3" fmla="*/ 566058 h 1132116"/>
                  <a:gd name="connsiteX4" fmla="*/ 566058 w 1132116"/>
                  <a:gd name="connsiteY4" fmla="*/ 0 h 1132116"/>
                  <a:gd name="connsiteX5" fmla="*/ 566053 w 1132116"/>
                  <a:gd name="connsiteY5" fmla="*/ 76795 h 1132116"/>
                  <a:gd name="connsiteX6" fmla="*/ 76791 w 1132116"/>
                  <a:gd name="connsiteY6" fmla="*/ 566057 h 1132116"/>
                  <a:gd name="connsiteX7" fmla="*/ 566053 w 1132116"/>
                  <a:gd name="connsiteY7" fmla="*/ 1055319 h 1132116"/>
                  <a:gd name="connsiteX8" fmla="*/ 1055315 w 1132116"/>
                  <a:gd name="connsiteY8" fmla="*/ 566057 h 1132116"/>
                  <a:gd name="connsiteX9" fmla="*/ 566053 w 1132116"/>
                  <a:gd name="connsiteY9" fmla="*/ 76795 h 1132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32116" h="1132116">
                    <a:moveTo>
                      <a:pt x="566058" y="0"/>
                    </a:moveTo>
                    <a:cubicBezTo>
                      <a:pt x="878683" y="0"/>
                      <a:pt x="1132116" y="253433"/>
                      <a:pt x="1132116" y="566058"/>
                    </a:cubicBezTo>
                    <a:cubicBezTo>
                      <a:pt x="1132116" y="878683"/>
                      <a:pt x="878683" y="1132116"/>
                      <a:pt x="566058" y="1132116"/>
                    </a:cubicBezTo>
                    <a:cubicBezTo>
                      <a:pt x="253433" y="1132116"/>
                      <a:pt x="0" y="878683"/>
                      <a:pt x="0" y="566058"/>
                    </a:cubicBezTo>
                    <a:cubicBezTo>
                      <a:pt x="0" y="253433"/>
                      <a:pt x="253433" y="0"/>
                      <a:pt x="566058" y="0"/>
                    </a:cubicBezTo>
                    <a:close/>
                    <a:moveTo>
                      <a:pt x="566053" y="76795"/>
                    </a:moveTo>
                    <a:cubicBezTo>
                      <a:pt x="295841" y="76795"/>
                      <a:pt x="76791" y="295845"/>
                      <a:pt x="76791" y="566057"/>
                    </a:cubicBezTo>
                    <a:cubicBezTo>
                      <a:pt x="76791" y="836269"/>
                      <a:pt x="295841" y="1055319"/>
                      <a:pt x="566053" y="1055319"/>
                    </a:cubicBezTo>
                    <a:cubicBezTo>
                      <a:pt x="836265" y="1055319"/>
                      <a:pt x="1055315" y="836269"/>
                      <a:pt x="1055315" y="566057"/>
                    </a:cubicBezTo>
                    <a:cubicBezTo>
                      <a:pt x="1055315" y="295845"/>
                      <a:pt x="836265" y="76795"/>
                      <a:pt x="566053" y="76795"/>
                    </a:cubicBezTo>
                    <a:close/>
                  </a:path>
                </a:pathLst>
              </a:custGeom>
              <a:solidFill>
                <a:srgbClr val="CA0035"/>
              </a:solidFill>
              <a:ln>
                <a:solidFill>
                  <a:srgbClr val="CA003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760FD0BD-0A6A-40A1-9476-C6613426114D}"/>
                  </a:ext>
                </a:extLst>
              </p:cNvPr>
              <p:cNvSpPr/>
              <p:nvPr/>
            </p:nvSpPr>
            <p:spPr>
              <a:xfrm>
                <a:off x="6681562" y="1746121"/>
                <a:ext cx="846417" cy="846417"/>
              </a:xfrm>
              <a:prstGeom prst="ellipse">
                <a:avLst/>
              </a:prstGeom>
              <a:solidFill>
                <a:srgbClr val="CA0035"/>
              </a:solidFill>
              <a:ln>
                <a:solidFill>
                  <a:srgbClr val="CA003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a-IR" dirty="0">
                    <a:cs typeface="B Yekan" panose="00000400000000000000" pitchFamily="2" charset="-78"/>
                  </a:rPr>
                  <a:t>2</a:t>
                </a:r>
                <a:endParaRPr lang="id-ID" dirty="0">
                  <a:cs typeface="B Yekan" panose="00000400000000000000" pitchFamily="2" charset="-78"/>
                </a:endParaRPr>
              </a:p>
            </p:txBody>
          </p:sp>
        </p:grp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BB9C2D2B-D1D3-4F3C-9D7C-C802ECB775E8}"/>
                </a:ext>
              </a:extLst>
            </p:cNvPr>
            <p:cNvSpPr/>
            <p:nvPr/>
          </p:nvSpPr>
          <p:spPr>
            <a:xfrm>
              <a:off x="7439030" y="2206448"/>
              <a:ext cx="2948826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fa-I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  <a:cs typeface="B Yekan" panose="00000400000000000000" pitchFamily="2" charset="-78"/>
                </a:rPr>
                <a:t>در </a:t>
              </a:r>
              <a:r>
                <a:rPr lang="fa-IR" sz="1400" dirty="0">
                  <a:solidFill>
                    <a:schemeClr val="bg1"/>
                  </a:solidFill>
                  <a:latin typeface="Tw Cen MT" panose="020B0602020104020603" pitchFamily="34" charset="0"/>
                  <a:cs typeface="B Yekan" panose="00000400000000000000" pitchFamily="2" charset="-78"/>
                </a:rPr>
                <a:t>برای دخبره سازی اطلاعات از کتابخانه </a:t>
              </a:r>
            </a:p>
            <a:p>
              <a:pPr algn="r"/>
              <a:r>
                <a:rPr lang="fa-I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  <a:cs typeface="B Yekan" panose="00000400000000000000" pitchFamily="2" charset="-78"/>
                </a:rPr>
                <a:t>اس</a:t>
              </a:r>
              <a:r>
                <a:rPr lang="fa-IR" sz="1400" dirty="0">
                  <a:solidFill>
                    <a:schemeClr val="bg1"/>
                  </a:solidFill>
                  <a:latin typeface="Tw Cen MT" panose="020B0602020104020603" pitchFamily="34" charset="0"/>
                  <a:cs typeface="B Yekan" panose="00000400000000000000" pitchFamily="2" charset="-78"/>
                </a:rPr>
                <a:t>استفاده شد </a:t>
              </a:r>
              <a:r>
                <a:rPr lang="fa-I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  <a:cs typeface="B Yekan" panose="00000400000000000000" pitchFamily="2" charset="-78"/>
                </a:rPr>
                <a:t>                  چکیده‌ا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  <a:cs typeface="B Yekan" panose="00000400000000000000" pitchFamily="2" charset="-78"/>
                </a:rPr>
                <a:t>p</a:t>
              </a:r>
              <a:r>
                <a:rPr lang="en-US" sz="1400" dirty="0" err="1">
                  <a:solidFill>
                    <a:schemeClr val="bg1"/>
                  </a:solidFill>
                  <a:latin typeface="Tw Cen MT" panose="020B0602020104020603" pitchFamily="34" charset="0"/>
                  <a:cs typeface="B Yekan" panose="00000400000000000000" pitchFamily="2" charset="-78"/>
                </a:rPr>
                <a:t>pickle</a:t>
              </a:r>
              <a:r>
                <a:rPr lang="en-US" sz="1400" dirty="0">
                  <a:solidFill>
                    <a:schemeClr val="bg1"/>
                  </a:solidFill>
                  <a:latin typeface="Tw Cen MT" panose="020B0602020104020603" pitchFamily="34" charset="0"/>
                  <a:cs typeface="B Yekan" panose="00000400000000000000" pitchFamily="2" charset="-78"/>
                </a:rPr>
                <a:t> </a:t>
              </a:r>
              <a:r>
                <a:rPr lang="fa-I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  <a:cs typeface="B Yekan" panose="00000400000000000000" pitchFamily="2" charset="-78"/>
                </a:rPr>
                <a:t>ی به راجع به تیتر خود وارد کنید.</a:t>
              </a:r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B Yekan" panose="00000400000000000000" pitchFamily="2" charset="-78"/>
              </a:endParaRP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989EC8A9-8B7A-4CD1-814B-8184426F3E2E}"/>
                </a:ext>
              </a:extLst>
            </p:cNvPr>
            <p:cNvSpPr/>
            <p:nvPr/>
          </p:nvSpPr>
          <p:spPr>
            <a:xfrm>
              <a:off x="8217075" y="1665822"/>
              <a:ext cx="2063169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endParaRPr lang="id-ID" sz="1600" b="1" dirty="0">
                <a:solidFill>
                  <a:srgbClr val="CA0035"/>
                </a:solidFill>
                <a:latin typeface="Raleway" panose="020B0503030101060003" pitchFamily="34" charset="0"/>
                <a:cs typeface="B Yekan" panose="00000400000000000000" pitchFamily="2" charset="-78"/>
              </a:endParaRPr>
            </a:p>
          </p:txBody>
        </p: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2095AF6-8730-4391-B559-46B44AB7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b="1" dirty="0">
                <a:cs typeface="B Yekan" panose="00000400000000000000" pitchFamily="2" charset="-78"/>
              </a:rPr>
              <a:t>2</a:t>
            </a:r>
            <a:endParaRPr lang="en-US" b="1" dirty="0">
              <a:cs typeface="B Yekan" panose="00000400000000000000" pitchFamily="2" charset="-78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A119D61-16F7-CB93-3D46-1B02152806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4885" y="1369356"/>
            <a:ext cx="3814223" cy="520505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4F88F34-BA87-0A88-6635-2A64FD6349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62" y="1369355"/>
            <a:ext cx="3742819" cy="5205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85818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8C8A8E5-F71A-4753-8CD3-385D7584E844}"/>
              </a:ext>
            </a:extLst>
          </p:cNvPr>
          <p:cNvSpPr/>
          <p:nvPr/>
        </p:nvSpPr>
        <p:spPr>
          <a:xfrm>
            <a:off x="2633355" y="351687"/>
            <a:ext cx="1617788" cy="691668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black"/>
                </a:solidFill>
                <a:latin typeface="Calibri" panose="020F0502020204030204"/>
                <a:cs typeface="B Yekan" panose="00000400000000000000" pitchFamily="2" charset="-78"/>
              </a:rPr>
              <a:t>نمودار ها </a:t>
            </a:r>
            <a:endParaRPr lang="en-US" dirty="0">
              <a:solidFill>
                <a:prstClr val="black"/>
              </a:solidFill>
              <a:latin typeface="Calibri" panose="020F0502020204030204"/>
              <a:cs typeface="B Yekan" panose="00000400000000000000" pitchFamily="2" charset="-78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9306F83-60D6-4002-8440-747D4971D767}"/>
              </a:ext>
            </a:extLst>
          </p:cNvPr>
          <p:cNvSpPr/>
          <p:nvPr/>
        </p:nvSpPr>
        <p:spPr>
          <a:xfrm>
            <a:off x="6144495" y="351687"/>
            <a:ext cx="1617788" cy="691668"/>
          </a:xfrm>
          <a:prstGeom prst="round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dirty="0">
                <a:solidFill>
                  <a:prstClr val="black"/>
                </a:solidFill>
                <a:latin typeface="Calibri" panose="020F0502020204030204"/>
                <a:cs typeface="B Yekan" panose="00000400000000000000" pitchFamily="2" charset="-78"/>
              </a:rPr>
              <a:t>قیمت آنلاین ارز ها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B Yekan" panose="00000400000000000000" pitchFamily="2" charset="-78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54D2D54-398F-4424-BA03-8924E5C68A14}"/>
              </a:ext>
            </a:extLst>
          </p:cNvPr>
          <p:cNvSpPr/>
          <p:nvPr/>
        </p:nvSpPr>
        <p:spPr>
          <a:xfrm>
            <a:off x="4388925" y="351687"/>
            <a:ext cx="1617788" cy="691668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B Yekan" panose="00000400000000000000" pitchFamily="2" charset="-78"/>
              </a:rPr>
              <a:t>تقویم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B Yekan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7D15C63-1139-40E0-AB72-FA87E7844D5D}"/>
              </a:ext>
            </a:extLst>
          </p:cNvPr>
          <p:cNvSpPr/>
          <p:nvPr/>
        </p:nvSpPr>
        <p:spPr>
          <a:xfrm>
            <a:off x="7900065" y="343451"/>
            <a:ext cx="1617788" cy="691668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  <a:latin typeface="Calibri" panose="020F0502020204030204"/>
              </a:rPr>
              <a:t>Log in &amp;</a:t>
            </a:r>
            <a:r>
              <a:rPr lang="fa-IR" dirty="0">
                <a:solidFill>
                  <a:schemeClr val="bg1"/>
                </a:solidFill>
                <a:latin typeface="Calibri" panose="020F0502020204030204"/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database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29C8635-69D5-4078-97E3-8EBB90B4F78F}"/>
              </a:ext>
            </a:extLst>
          </p:cNvPr>
          <p:cNvSpPr/>
          <p:nvPr/>
        </p:nvSpPr>
        <p:spPr>
          <a:xfrm>
            <a:off x="9655635" y="351687"/>
            <a:ext cx="1617788" cy="691668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a-IR" dirty="0">
                <a:solidFill>
                  <a:prstClr val="black"/>
                </a:solidFill>
                <a:latin typeface="Calibri" panose="020F0502020204030204"/>
                <a:cs typeface="B Yekan" panose="00000400000000000000" pitchFamily="2" charset="-78"/>
              </a:rPr>
              <a:t>طرح کلی</a:t>
            </a:r>
            <a:endParaRPr lang="en-US" dirty="0">
              <a:solidFill>
                <a:prstClr val="black"/>
              </a:solidFill>
              <a:latin typeface="Calibri" panose="020F0502020204030204"/>
              <a:cs typeface="B Yekan" panose="00000400000000000000" pitchFamily="2" charset="-78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5601D7A-3D6D-4578-BA3F-F73A0014F91A}"/>
              </a:ext>
            </a:extLst>
          </p:cNvPr>
          <p:cNvSpPr/>
          <p:nvPr/>
        </p:nvSpPr>
        <p:spPr>
          <a:xfrm>
            <a:off x="615863" y="1437449"/>
            <a:ext cx="10960274" cy="5205052"/>
          </a:xfrm>
          <a:prstGeom prst="rect">
            <a:avLst/>
          </a:prstGeom>
          <a:ln>
            <a:solidFill>
              <a:srgbClr val="E7EB58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C5F24FE-DF35-4E63-8E28-0DE0176A3AFE}"/>
              </a:ext>
            </a:extLst>
          </p:cNvPr>
          <p:cNvSpPr/>
          <p:nvPr/>
        </p:nvSpPr>
        <p:spPr>
          <a:xfrm>
            <a:off x="877785" y="351687"/>
            <a:ext cx="1617788" cy="691668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B Yekan" panose="00000400000000000000" pitchFamily="2" charset="-78"/>
              </a:rPr>
              <a:t>ساعت و گیف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B Yekan" panose="00000400000000000000" pitchFamily="2" charset="-78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4BA5751-DEE4-4FCC-B88F-8D5446359C36}"/>
              </a:ext>
            </a:extLst>
          </p:cNvPr>
          <p:cNvGrpSpPr/>
          <p:nvPr/>
        </p:nvGrpSpPr>
        <p:grpSpPr>
          <a:xfrm>
            <a:off x="7352778" y="1478065"/>
            <a:ext cx="3513045" cy="1473623"/>
            <a:chOff x="7352778" y="1665822"/>
            <a:chExt cx="3513045" cy="1473623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07BB1370-EF48-4E53-8DB1-B8E5DF4A54B0}"/>
                </a:ext>
              </a:extLst>
            </p:cNvPr>
            <p:cNvGrpSpPr/>
            <p:nvPr/>
          </p:nvGrpSpPr>
          <p:grpSpPr>
            <a:xfrm>
              <a:off x="10366497" y="1804322"/>
              <a:ext cx="499326" cy="499326"/>
              <a:chOff x="6538714" y="1603273"/>
              <a:chExt cx="1132116" cy="1132116"/>
            </a:xfrm>
            <a:solidFill>
              <a:schemeClr val="accent3"/>
            </a:solidFill>
          </p:grpSpPr>
          <p:sp>
            <p:nvSpPr>
              <p:cNvPr id="150" name="Freeform: Shape 13">
                <a:extLst>
                  <a:ext uri="{FF2B5EF4-FFF2-40B4-BE49-F238E27FC236}">
                    <a16:creationId xmlns:a16="http://schemas.microsoft.com/office/drawing/2014/main" id="{018462FC-82C5-40E9-B30D-1EB60FA615E9}"/>
                  </a:ext>
                </a:extLst>
              </p:cNvPr>
              <p:cNvSpPr/>
              <p:nvPr/>
            </p:nvSpPr>
            <p:spPr>
              <a:xfrm>
                <a:off x="6538714" y="1603273"/>
                <a:ext cx="1132116" cy="1132116"/>
              </a:xfrm>
              <a:custGeom>
                <a:avLst/>
                <a:gdLst>
                  <a:gd name="connsiteX0" fmla="*/ 566058 w 1132116"/>
                  <a:gd name="connsiteY0" fmla="*/ 0 h 1132116"/>
                  <a:gd name="connsiteX1" fmla="*/ 1132116 w 1132116"/>
                  <a:gd name="connsiteY1" fmla="*/ 566058 h 1132116"/>
                  <a:gd name="connsiteX2" fmla="*/ 566058 w 1132116"/>
                  <a:gd name="connsiteY2" fmla="*/ 1132116 h 1132116"/>
                  <a:gd name="connsiteX3" fmla="*/ 0 w 1132116"/>
                  <a:gd name="connsiteY3" fmla="*/ 566058 h 1132116"/>
                  <a:gd name="connsiteX4" fmla="*/ 566058 w 1132116"/>
                  <a:gd name="connsiteY4" fmla="*/ 0 h 1132116"/>
                  <a:gd name="connsiteX5" fmla="*/ 566053 w 1132116"/>
                  <a:gd name="connsiteY5" fmla="*/ 76795 h 1132116"/>
                  <a:gd name="connsiteX6" fmla="*/ 76791 w 1132116"/>
                  <a:gd name="connsiteY6" fmla="*/ 566057 h 1132116"/>
                  <a:gd name="connsiteX7" fmla="*/ 566053 w 1132116"/>
                  <a:gd name="connsiteY7" fmla="*/ 1055319 h 1132116"/>
                  <a:gd name="connsiteX8" fmla="*/ 1055315 w 1132116"/>
                  <a:gd name="connsiteY8" fmla="*/ 566057 h 1132116"/>
                  <a:gd name="connsiteX9" fmla="*/ 566053 w 1132116"/>
                  <a:gd name="connsiteY9" fmla="*/ 76795 h 1132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32116" h="1132116">
                    <a:moveTo>
                      <a:pt x="566058" y="0"/>
                    </a:moveTo>
                    <a:cubicBezTo>
                      <a:pt x="878683" y="0"/>
                      <a:pt x="1132116" y="253433"/>
                      <a:pt x="1132116" y="566058"/>
                    </a:cubicBezTo>
                    <a:cubicBezTo>
                      <a:pt x="1132116" y="878683"/>
                      <a:pt x="878683" y="1132116"/>
                      <a:pt x="566058" y="1132116"/>
                    </a:cubicBezTo>
                    <a:cubicBezTo>
                      <a:pt x="253433" y="1132116"/>
                      <a:pt x="0" y="878683"/>
                      <a:pt x="0" y="566058"/>
                    </a:cubicBezTo>
                    <a:cubicBezTo>
                      <a:pt x="0" y="253433"/>
                      <a:pt x="253433" y="0"/>
                      <a:pt x="566058" y="0"/>
                    </a:cubicBezTo>
                    <a:close/>
                    <a:moveTo>
                      <a:pt x="566053" y="76795"/>
                    </a:moveTo>
                    <a:cubicBezTo>
                      <a:pt x="295841" y="76795"/>
                      <a:pt x="76791" y="295845"/>
                      <a:pt x="76791" y="566057"/>
                    </a:cubicBezTo>
                    <a:cubicBezTo>
                      <a:pt x="76791" y="836269"/>
                      <a:pt x="295841" y="1055319"/>
                      <a:pt x="566053" y="1055319"/>
                    </a:cubicBezTo>
                    <a:cubicBezTo>
                      <a:pt x="836265" y="1055319"/>
                      <a:pt x="1055315" y="836269"/>
                      <a:pt x="1055315" y="566057"/>
                    </a:cubicBezTo>
                    <a:cubicBezTo>
                      <a:pt x="1055315" y="295845"/>
                      <a:pt x="836265" y="76795"/>
                      <a:pt x="566053" y="76795"/>
                    </a:cubicBezTo>
                    <a:close/>
                  </a:path>
                </a:pathLst>
              </a:custGeom>
              <a:solidFill>
                <a:srgbClr val="5B1646"/>
              </a:solidFill>
              <a:ln>
                <a:solidFill>
                  <a:srgbClr val="5B16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E3EF275B-3A36-4387-91A8-FBE7215388C3}"/>
                  </a:ext>
                </a:extLst>
              </p:cNvPr>
              <p:cNvSpPr/>
              <p:nvPr/>
            </p:nvSpPr>
            <p:spPr>
              <a:xfrm>
                <a:off x="6681562" y="1746121"/>
                <a:ext cx="846417" cy="846417"/>
              </a:xfrm>
              <a:prstGeom prst="ellipse">
                <a:avLst/>
              </a:prstGeom>
              <a:solidFill>
                <a:srgbClr val="5B1646"/>
              </a:solidFill>
              <a:ln>
                <a:solidFill>
                  <a:srgbClr val="5B16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a-IR" dirty="0">
                    <a:cs typeface="B Yekan" panose="00000400000000000000" pitchFamily="2" charset="-78"/>
                  </a:rPr>
                  <a:t>1</a:t>
                </a:r>
                <a:endParaRPr lang="id-ID" dirty="0">
                  <a:cs typeface="B Yekan" panose="00000400000000000000" pitchFamily="2" charset="-78"/>
                </a:endParaRPr>
              </a:p>
            </p:txBody>
          </p:sp>
        </p:grp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7E5622B6-F34D-431F-B81B-2B3686A54EF0}"/>
                </a:ext>
              </a:extLst>
            </p:cNvPr>
            <p:cNvSpPr/>
            <p:nvPr/>
          </p:nvSpPr>
          <p:spPr>
            <a:xfrm>
              <a:off x="7352778" y="1969894"/>
              <a:ext cx="2948826" cy="11695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fa-IR" sz="1400" dirty="0">
                  <a:solidFill>
                    <a:schemeClr val="bg1"/>
                  </a:solidFill>
                  <a:latin typeface="Tw Cen MT" panose="020B0602020104020603" pitchFamily="34" charset="0"/>
                  <a:cs typeface="B Yekan" panose="00000400000000000000" pitchFamily="2" charset="-78"/>
                </a:rPr>
                <a:t>برای گرفتن اطلاعات انلاین از </a:t>
              </a:r>
              <a:endParaRPr lang="en-US" sz="1400" dirty="0">
                <a:solidFill>
                  <a:schemeClr val="bg1"/>
                </a:solidFill>
                <a:latin typeface="Tw Cen MT" panose="020B0602020104020603" pitchFamily="34" charset="0"/>
                <a:cs typeface="B Yekan" panose="00000400000000000000" pitchFamily="2" charset="-78"/>
              </a:endParaRPr>
            </a:p>
            <a:p>
              <a:pPr algn="r"/>
              <a:r>
                <a:rPr lang="fa-IR" sz="1400" dirty="0">
                  <a:solidFill>
                    <a:schemeClr val="bg1"/>
                  </a:solidFill>
                  <a:latin typeface="Tw Cen MT" panose="020B0602020104020603" pitchFamily="34" charset="0"/>
                  <a:cs typeface="B Yekan" panose="00000400000000000000" pitchFamily="2" charset="-78"/>
                </a:rPr>
                <a:t>سایت از کتابخانه </a:t>
              </a:r>
              <a:r>
                <a:rPr lang="en-US" sz="1400" dirty="0" err="1">
                  <a:solidFill>
                    <a:schemeClr val="bg1"/>
                  </a:solidFill>
                  <a:latin typeface="Tw Cen MT" panose="020B0602020104020603" pitchFamily="34" charset="0"/>
                  <a:cs typeface="B Yekan" panose="00000400000000000000" pitchFamily="2" charset="-78"/>
                </a:rPr>
                <a:t>Api</a:t>
              </a:r>
              <a:endParaRPr lang="fa-IR" sz="1400" dirty="0">
                <a:solidFill>
                  <a:schemeClr val="bg1"/>
                </a:solidFill>
                <a:latin typeface="Tw Cen MT" panose="020B0602020104020603" pitchFamily="34" charset="0"/>
                <a:cs typeface="B Yekan" panose="00000400000000000000" pitchFamily="2" charset="-78"/>
              </a:endParaRPr>
            </a:p>
            <a:p>
              <a:pPr algn="r"/>
              <a:endParaRPr lang="fa-IR" sz="1400" dirty="0">
                <a:solidFill>
                  <a:schemeClr val="bg1"/>
                </a:solidFill>
                <a:latin typeface="Tw Cen MT" panose="020B0602020104020603" pitchFamily="34" charset="0"/>
                <a:cs typeface="B Yekan" panose="00000400000000000000" pitchFamily="2" charset="-78"/>
              </a:endParaRPr>
            </a:p>
            <a:p>
              <a:pPr algn="r"/>
              <a:r>
                <a:rPr lang="fa-IR" sz="1400" dirty="0">
                  <a:solidFill>
                    <a:schemeClr val="bg1"/>
                  </a:solidFill>
                  <a:latin typeface="Tw Cen MT" panose="020B0602020104020603" pitchFamily="34" charset="0"/>
                  <a:cs typeface="B Yekan" panose="00000400000000000000" pitchFamily="2" charset="-78"/>
                </a:rPr>
                <a:t> استفاده شده است </a:t>
              </a:r>
              <a:r>
                <a:rPr lang="en-US" sz="1400" dirty="0" err="1">
                  <a:solidFill>
                    <a:schemeClr val="bg1"/>
                  </a:solidFill>
                  <a:latin typeface="Tw Cen MT" panose="020B0602020104020603" pitchFamily="34" charset="0"/>
                  <a:cs typeface="B Yekan" panose="00000400000000000000" pitchFamily="2" charset="-78"/>
                </a:rPr>
                <a:t>Requstes</a:t>
              </a:r>
              <a:r>
                <a:rPr lang="en-US" sz="1400" dirty="0">
                  <a:solidFill>
                    <a:schemeClr val="bg1"/>
                  </a:solidFill>
                  <a:latin typeface="Tw Cen MT" panose="020B0602020104020603" pitchFamily="34" charset="0"/>
                  <a:cs typeface="B Yekan" panose="00000400000000000000" pitchFamily="2" charset="-78"/>
                </a:rPr>
                <a:t> </a:t>
              </a:r>
              <a:endParaRPr lang="fa-IR" sz="1400" dirty="0">
                <a:solidFill>
                  <a:schemeClr val="bg1"/>
                </a:solidFill>
                <a:latin typeface="Tw Cen MT" panose="020B0602020104020603" pitchFamily="34" charset="0"/>
                <a:cs typeface="B Yekan" panose="00000400000000000000" pitchFamily="2" charset="-78"/>
              </a:endParaRPr>
            </a:p>
            <a:p>
              <a:pPr algn="r"/>
              <a:endParaRPr lang="en-US" sz="1400" dirty="0">
                <a:solidFill>
                  <a:schemeClr val="bg1"/>
                </a:solidFill>
                <a:latin typeface="Tw Cen MT" panose="020B0602020104020603" pitchFamily="34" charset="0"/>
                <a:cs typeface="B Yekan" panose="00000400000000000000" pitchFamily="2" charset="-78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C9DB444E-F296-46CF-9A52-A0FA7F9E1463}"/>
                </a:ext>
              </a:extLst>
            </p:cNvPr>
            <p:cNvSpPr/>
            <p:nvPr/>
          </p:nvSpPr>
          <p:spPr>
            <a:xfrm>
              <a:off x="8217075" y="1665822"/>
              <a:ext cx="206317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endParaRPr lang="id-ID" sz="1600" b="1" dirty="0">
                <a:solidFill>
                  <a:srgbClr val="5B1646"/>
                </a:solidFill>
                <a:latin typeface="Raleway" panose="020B0503030101060003" pitchFamily="34" charset="0"/>
                <a:cs typeface="B Yekan" panose="00000400000000000000" pitchFamily="2" charset="-78"/>
              </a:endParaRPr>
            </a:p>
          </p:txBody>
        </p: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2095AF6-8730-4391-B559-46B44AB7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b="1" dirty="0">
                <a:cs typeface="B Yekan" panose="00000400000000000000" pitchFamily="2" charset="-78"/>
              </a:rPr>
              <a:t>2</a:t>
            </a:r>
            <a:endParaRPr lang="en-US" b="1" dirty="0">
              <a:cs typeface="B Yekan" panose="00000400000000000000" pitchFamily="2" charset="-7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2C5A951-152F-42AD-2905-28292F6422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694" y="2859931"/>
            <a:ext cx="9363124" cy="3646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42911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8C8A8E5-F71A-4753-8CD3-385D7584E844}"/>
              </a:ext>
            </a:extLst>
          </p:cNvPr>
          <p:cNvSpPr/>
          <p:nvPr/>
        </p:nvSpPr>
        <p:spPr>
          <a:xfrm>
            <a:off x="2633355" y="351687"/>
            <a:ext cx="1617788" cy="691668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black"/>
                </a:solidFill>
                <a:latin typeface="Calibri" panose="020F0502020204030204"/>
                <a:cs typeface="B Yekan" panose="00000400000000000000" pitchFamily="2" charset="-78"/>
              </a:rPr>
              <a:t>نمودار ها </a:t>
            </a:r>
            <a:endParaRPr lang="en-US" dirty="0">
              <a:solidFill>
                <a:prstClr val="black"/>
              </a:solidFill>
              <a:latin typeface="Calibri" panose="020F0502020204030204"/>
              <a:cs typeface="B Yekan" panose="00000400000000000000" pitchFamily="2" charset="-78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9306F83-60D6-4002-8440-747D4971D767}"/>
              </a:ext>
            </a:extLst>
          </p:cNvPr>
          <p:cNvSpPr/>
          <p:nvPr/>
        </p:nvSpPr>
        <p:spPr>
          <a:xfrm>
            <a:off x="6144495" y="351687"/>
            <a:ext cx="1617788" cy="691668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dirty="0">
                <a:solidFill>
                  <a:prstClr val="black"/>
                </a:solidFill>
                <a:latin typeface="Calibri" panose="020F0502020204030204"/>
                <a:cs typeface="B Yekan" panose="00000400000000000000" pitchFamily="2" charset="-78"/>
              </a:rPr>
              <a:t>قیمت آنلاین ارز ها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B Yekan" panose="00000400000000000000" pitchFamily="2" charset="-78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54D2D54-398F-4424-BA03-8924E5C68A14}"/>
              </a:ext>
            </a:extLst>
          </p:cNvPr>
          <p:cNvSpPr/>
          <p:nvPr/>
        </p:nvSpPr>
        <p:spPr>
          <a:xfrm>
            <a:off x="4388925" y="351687"/>
            <a:ext cx="1617788" cy="691668"/>
          </a:xfrm>
          <a:prstGeom prst="round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B Yekan" panose="00000400000000000000" pitchFamily="2" charset="-78"/>
              </a:rPr>
              <a:t>تقویم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B Yekan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7D15C63-1139-40E0-AB72-FA87E7844D5D}"/>
              </a:ext>
            </a:extLst>
          </p:cNvPr>
          <p:cNvSpPr/>
          <p:nvPr/>
        </p:nvSpPr>
        <p:spPr>
          <a:xfrm>
            <a:off x="7900065" y="343451"/>
            <a:ext cx="1617788" cy="691668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  <a:latin typeface="Calibri" panose="020F0502020204030204"/>
              </a:rPr>
              <a:t>Log in &amp;</a:t>
            </a:r>
            <a:r>
              <a:rPr lang="fa-IR" dirty="0">
                <a:solidFill>
                  <a:schemeClr val="bg1"/>
                </a:solidFill>
                <a:latin typeface="Calibri" panose="020F0502020204030204"/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database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29C8635-69D5-4078-97E3-8EBB90B4F78F}"/>
              </a:ext>
            </a:extLst>
          </p:cNvPr>
          <p:cNvSpPr/>
          <p:nvPr/>
        </p:nvSpPr>
        <p:spPr>
          <a:xfrm>
            <a:off x="9655635" y="351687"/>
            <a:ext cx="1617788" cy="691668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a-IR" dirty="0">
                <a:solidFill>
                  <a:prstClr val="black"/>
                </a:solidFill>
                <a:latin typeface="Calibri" panose="020F0502020204030204"/>
                <a:cs typeface="B Yekan" panose="00000400000000000000" pitchFamily="2" charset="-78"/>
              </a:rPr>
              <a:t>طرح کلی</a:t>
            </a:r>
            <a:endParaRPr lang="en-US" dirty="0">
              <a:solidFill>
                <a:prstClr val="black"/>
              </a:solidFill>
              <a:latin typeface="Calibri" panose="020F0502020204030204"/>
              <a:cs typeface="B Yekan" panose="00000400000000000000" pitchFamily="2" charset="-78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5601D7A-3D6D-4578-BA3F-F73A0014F91A}"/>
              </a:ext>
            </a:extLst>
          </p:cNvPr>
          <p:cNvSpPr/>
          <p:nvPr/>
        </p:nvSpPr>
        <p:spPr>
          <a:xfrm>
            <a:off x="526576" y="1366860"/>
            <a:ext cx="10960274" cy="5205052"/>
          </a:xfrm>
          <a:prstGeom prst="rect">
            <a:avLst/>
          </a:prstGeom>
          <a:ln>
            <a:solidFill>
              <a:srgbClr val="E7EB58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C5F24FE-DF35-4E63-8E28-0DE0176A3AFE}"/>
              </a:ext>
            </a:extLst>
          </p:cNvPr>
          <p:cNvSpPr/>
          <p:nvPr/>
        </p:nvSpPr>
        <p:spPr>
          <a:xfrm>
            <a:off x="877785" y="351687"/>
            <a:ext cx="1617788" cy="691668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B Yekan" panose="00000400000000000000" pitchFamily="2" charset="-78"/>
              </a:rPr>
              <a:t>ساعت و گیف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B Yekan" panose="00000400000000000000" pitchFamily="2" charset="-78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4BA5751-DEE4-4FCC-B88F-8D5446359C36}"/>
              </a:ext>
            </a:extLst>
          </p:cNvPr>
          <p:cNvGrpSpPr/>
          <p:nvPr/>
        </p:nvGrpSpPr>
        <p:grpSpPr>
          <a:xfrm>
            <a:off x="7352778" y="1478065"/>
            <a:ext cx="3513045" cy="1042736"/>
            <a:chOff x="7352778" y="1665822"/>
            <a:chExt cx="3513045" cy="1042736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07BB1370-EF48-4E53-8DB1-B8E5DF4A54B0}"/>
                </a:ext>
              </a:extLst>
            </p:cNvPr>
            <p:cNvGrpSpPr/>
            <p:nvPr/>
          </p:nvGrpSpPr>
          <p:grpSpPr>
            <a:xfrm>
              <a:off x="10366497" y="1804322"/>
              <a:ext cx="499326" cy="499326"/>
              <a:chOff x="6538714" y="1603273"/>
              <a:chExt cx="1132116" cy="1132116"/>
            </a:xfrm>
            <a:solidFill>
              <a:schemeClr val="accent3"/>
            </a:solidFill>
          </p:grpSpPr>
          <p:sp>
            <p:nvSpPr>
              <p:cNvPr id="150" name="Freeform: Shape 13">
                <a:extLst>
                  <a:ext uri="{FF2B5EF4-FFF2-40B4-BE49-F238E27FC236}">
                    <a16:creationId xmlns:a16="http://schemas.microsoft.com/office/drawing/2014/main" id="{018462FC-82C5-40E9-B30D-1EB60FA615E9}"/>
                  </a:ext>
                </a:extLst>
              </p:cNvPr>
              <p:cNvSpPr/>
              <p:nvPr/>
            </p:nvSpPr>
            <p:spPr>
              <a:xfrm>
                <a:off x="6538714" y="1603273"/>
                <a:ext cx="1132116" cy="1132116"/>
              </a:xfrm>
              <a:custGeom>
                <a:avLst/>
                <a:gdLst>
                  <a:gd name="connsiteX0" fmla="*/ 566058 w 1132116"/>
                  <a:gd name="connsiteY0" fmla="*/ 0 h 1132116"/>
                  <a:gd name="connsiteX1" fmla="*/ 1132116 w 1132116"/>
                  <a:gd name="connsiteY1" fmla="*/ 566058 h 1132116"/>
                  <a:gd name="connsiteX2" fmla="*/ 566058 w 1132116"/>
                  <a:gd name="connsiteY2" fmla="*/ 1132116 h 1132116"/>
                  <a:gd name="connsiteX3" fmla="*/ 0 w 1132116"/>
                  <a:gd name="connsiteY3" fmla="*/ 566058 h 1132116"/>
                  <a:gd name="connsiteX4" fmla="*/ 566058 w 1132116"/>
                  <a:gd name="connsiteY4" fmla="*/ 0 h 1132116"/>
                  <a:gd name="connsiteX5" fmla="*/ 566053 w 1132116"/>
                  <a:gd name="connsiteY5" fmla="*/ 76795 h 1132116"/>
                  <a:gd name="connsiteX6" fmla="*/ 76791 w 1132116"/>
                  <a:gd name="connsiteY6" fmla="*/ 566057 h 1132116"/>
                  <a:gd name="connsiteX7" fmla="*/ 566053 w 1132116"/>
                  <a:gd name="connsiteY7" fmla="*/ 1055319 h 1132116"/>
                  <a:gd name="connsiteX8" fmla="*/ 1055315 w 1132116"/>
                  <a:gd name="connsiteY8" fmla="*/ 566057 h 1132116"/>
                  <a:gd name="connsiteX9" fmla="*/ 566053 w 1132116"/>
                  <a:gd name="connsiteY9" fmla="*/ 76795 h 1132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32116" h="1132116">
                    <a:moveTo>
                      <a:pt x="566058" y="0"/>
                    </a:moveTo>
                    <a:cubicBezTo>
                      <a:pt x="878683" y="0"/>
                      <a:pt x="1132116" y="253433"/>
                      <a:pt x="1132116" y="566058"/>
                    </a:cubicBezTo>
                    <a:cubicBezTo>
                      <a:pt x="1132116" y="878683"/>
                      <a:pt x="878683" y="1132116"/>
                      <a:pt x="566058" y="1132116"/>
                    </a:cubicBezTo>
                    <a:cubicBezTo>
                      <a:pt x="253433" y="1132116"/>
                      <a:pt x="0" y="878683"/>
                      <a:pt x="0" y="566058"/>
                    </a:cubicBezTo>
                    <a:cubicBezTo>
                      <a:pt x="0" y="253433"/>
                      <a:pt x="253433" y="0"/>
                      <a:pt x="566058" y="0"/>
                    </a:cubicBezTo>
                    <a:close/>
                    <a:moveTo>
                      <a:pt x="566053" y="76795"/>
                    </a:moveTo>
                    <a:cubicBezTo>
                      <a:pt x="295841" y="76795"/>
                      <a:pt x="76791" y="295845"/>
                      <a:pt x="76791" y="566057"/>
                    </a:cubicBezTo>
                    <a:cubicBezTo>
                      <a:pt x="76791" y="836269"/>
                      <a:pt x="295841" y="1055319"/>
                      <a:pt x="566053" y="1055319"/>
                    </a:cubicBezTo>
                    <a:cubicBezTo>
                      <a:pt x="836265" y="1055319"/>
                      <a:pt x="1055315" y="836269"/>
                      <a:pt x="1055315" y="566057"/>
                    </a:cubicBezTo>
                    <a:cubicBezTo>
                      <a:pt x="1055315" y="295845"/>
                      <a:pt x="836265" y="76795"/>
                      <a:pt x="566053" y="76795"/>
                    </a:cubicBezTo>
                    <a:close/>
                  </a:path>
                </a:pathLst>
              </a:custGeom>
              <a:solidFill>
                <a:srgbClr val="5B1646"/>
              </a:solidFill>
              <a:ln>
                <a:solidFill>
                  <a:srgbClr val="5B16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E3EF275B-3A36-4387-91A8-FBE7215388C3}"/>
                  </a:ext>
                </a:extLst>
              </p:cNvPr>
              <p:cNvSpPr/>
              <p:nvPr/>
            </p:nvSpPr>
            <p:spPr>
              <a:xfrm>
                <a:off x="6681562" y="1746121"/>
                <a:ext cx="846417" cy="846417"/>
              </a:xfrm>
              <a:prstGeom prst="ellipse">
                <a:avLst/>
              </a:prstGeom>
              <a:solidFill>
                <a:srgbClr val="5B1646"/>
              </a:solidFill>
              <a:ln>
                <a:solidFill>
                  <a:srgbClr val="5B16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a-IR" dirty="0">
                    <a:cs typeface="B Yekan" panose="00000400000000000000" pitchFamily="2" charset="-78"/>
                  </a:rPr>
                  <a:t>1</a:t>
                </a:r>
                <a:endParaRPr lang="id-ID" dirty="0">
                  <a:cs typeface="B Yekan" panose="00000400000000000000" pitchFamily="2" charset="-78"/>
                </a:endParaRPr>
              </a:p>
            </p:txBody>
          </p:sp>
        </p:grp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7E5622B6-F34D-431F-B81B-2B3686A54EF0}"/>
                </a:ext>
              </a:extLst>
            </p:cNvPr>
            <p:cNvSpPr/>
            <p:nvPr/>
          </p:nvSpPr>
          <p:spPr>
            <a:xfrm>
              <a:off x="7352778" y="1969894"/>
              <a:ext cx="2948826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fa-IR" sz="1400" dirty="0">
                  <a:solidFill>
                    <a:schemeClr val="bg1"/>
                  </a:solidFill>
                  <a:latin typeface="Tw Cen MT" panose="020B0602020104020603" pitchFamily="34" charset="0"/>
                  <a:cs typeface="B Yekan" panose="00000400000000000000" pitchFamily="2" charset="-78"/>
                </a:rPr>
                <a:t>برای بخش گرافیکی این برنامه از کتابخانه </a:t>
              </a:r>
              <a:endParaRPr lang="en-US" sz="1400" dirty="0">
                <a:solidFill>
                  <a:schemeClr val="bg1"/>
                </a:solidFill>
                <a:latin typeface="Tw Cen MT" panose="020B0602020104020603" pitchFamily="34" charset="0"/>
                <a:cs typeface="B Yekan" panose="00000400000000000000" pitchFamily="2" charset="-78"/>
              </a:endParaRPr>
            </a:p>
            <a:p>
              <a:pPr algn="r"/>
              <a:r>
                <a:rPr lang="fa-IR" sz="1400" dirty="0">
                  <a:solidFill>
                    <a:schemeClr val="bg1"/>
                  </a:solidFill>
                  <a:latin typeface="Tw Cen MT" panose="020B0602020104020603" pitchFamily="34" charset="0"/>
                  <a:cs typeface="B Yekan" panose="00000400000000000000" pitchFamily="2" charset="-78"/>
                </a:rPr>
                <a:t>استقاده شده است                </a:t>
              </a:r>
              <a:r>
                <a:rPr lang="en-US" sz="1400" dirty="0">
                  <a:solidFill>
                    <a:schemeClr val="bg1"/>
                  </a:solidFill>
                  <a:latin typeface="Tw Cen MT" panose="020B0602020104020603" pitchFamily="34" charset="0"/>
                  <a:cs typeface="B Yekan" panose="00000400000000000000" pitchFamily="2" charset="-78"/>
                </a:rPr>
                <a:t>PYQt5</a:t>
              </a:r>
              <a:r>
                <a:rPr lang="fa-IR" sz="1400" dirty="0">
                  <a:solidFill>
                    <a:schemeClr val="bg1"/>
                  </a:solidFill>
                  <a:latin typeface="Tw Cen MT" panose="020B0602020104020603" pitchFamily="34" charset="0"/>
                  <a:cs typeface="B Yekan" panose="00000400000000000000" pitchFamily="2" charset="-78"/>
                </a:rPr>
                <a:t> </a:t>
              </a:r>
              <a:r>
                <a:rPr lang="en-US" sz="1400" dirty="0" err="1">
                  <a:solidFill>
                    <a:schemeClr val="bg1"/>
                  </a:solidFill>
                  <a:latin typeface="Consolas" panose="020B0609020204030204" pitchFamily="49" charset="0"/>
                </a:rPr>
                <a:t>QtWidgets</a:t>
              </a:r>
              <a:r>
                <a:rPr lang="en-US" sz="1400" b="0" dirty="0">
                  <a:solidFill>
                    <a:schemeClr val="bg1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sz="1400" b="0" dirty="0" err="1">
                  <a:solidFill>
                    <a:schemeClr val="bg1"/>
                  </a:solidFill>
                  <a:effectLst/>
                  <a:latin typeface="Consolas" panose="020B0609020204030204" pitchFamily="49" charset="0"/>
                </a:rPr>
                <a:t>QtCore</a:t>
              </a:r>
              <a:r>
                <a:rPr lang="en-US" sz="1400" b="0" dirty="0">
                  <a:solidFill>
                    <a:schemeClr val="bg1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sz="1400" b="0" dirty="0" err="1">
                  <a:solidFill>
                    <a:schemeClr val="bg1"/>
                  </a:solidFill>
                  <a:effectLst/>
                  <a:latin typeface="Consolas" panose="020B0609020204030204" pitchFamily="49" charset="0"/>
                </a:rPr>
                <a:t>QtGui</a:t>
              </a:r>
              <a:r>
                <a:rPr lang="fa-IR" sz="1400" dirty="0">
                  <a:solidFill>
                    <a:schemeClr val="bg1"/>
                  </a:solidFill>
                  <a:latin typeface="Tw Cen MT" panose="020B0602020104020603" pitchFamily="34" charset="0"/>
                  <a:cs typeface="B Yekan" panose="00000400000000000000" pitchFamily="2" charset="-78"/>
                </a:rPr>
                <a:t>.</a:t>
              </a:r>
              <a:endParaRPr lang="en-US" sz="1400" dirty="0">
                <a:solidFill>
                  <a:schemeClr val="bg1"/>
                </a:solidFill>
                <a:latin typeface="Tw Cen MT" panose="020B0602020104020603" pitchFamily="34" charset="0"/>
                <a:cs typeface="B Yekan" panose="00000400000000000000" pitchFamily="2" charset="-78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C9DB444E-F296-46CF-9A52-A0FA7F9E1463}"/>
                </a:ext>
              </a:extLst>
            </p:cNvPr>
            <p:cNvSpPr/>
            <p:nvPr/>
          </p:nvSpPr>
          <p:spPr>
            <a:xfrm>
              <a:off x="8217075" y="1665822"/>
              <a:ext cx="206317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endParaRPr lang="id-ID" sz="1600" b="1" dirty="0">
                <a:solidFill>
                  <a:srgbClr val="5B1646"/>
                </a:solidFill>
                <a:latin typeface="Raleway" panose="020B0503030101060003" pitchFamily="34" charset="0"/>
                <a:cs typeface="B Yekan" panose="00000400000000000000" pitchFamily="2" charset="-78"/>
              </a:endParaRPr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8269E4F0-B4D0-47F2-9B2A-F0E9537A979D}"/>
              </a:ext>
            </a:extLst>
          </p:cNvPr>
          <p:cNvGrpSpPr/>
          <p:nvPr/>
        </p:nvGrpSpPr>
        <p:grpSpPr>
          <a:xfrm>
            <a:off x="7535263" y="3187882"/>
            <a:ext cx="3426793" cy="1279290"/>
            <a:chOff x="7439030" y="1665822"/>
            <a:chExt cx="3426793" cy="1279290"/>
          </a:xfrm>
        </p:grpSpPr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026C733D-BEBB-4DC6-A32F-3CE4342D25FF}"/>
                </a:ext>
              </a:extLst>
            </p:cNvPr>
            <p:cNvGrpSpPr/>
            <p:nvPr/>
          </p:nvGrpSpPr>
          <p:grpSpPr>
            <a:xfrm>
              <a:off x="10366497" y="1804322"/>
              <a:ext cx="499326" cy="499326"/>
              <a:chOff x="6538714" y="1603273"/>
              <a:chExt cx="1132116" cy="1132116"/>
            </a:xfrm>
            <a:solidFill>
              <a:schemeClr val="accent3"/>
            </a:solidFill>
          </p:grpSpPr>
          <p:sp>
            <p:nvSpPr>
              <p:cNvPr id="156" name="Freeform: Shape 13">
                <a:extLst>
                  <a:ext uri="{FF2B5EF4-FFF2-40B4-BE49-F238E27FC236}">
                    <a16:creationId xmlns:a16="http://schemas.microsoft.com/office/drawing/2014/main" id="{67F23F91-8E66-4D29-9418-E3F9341E12B5}"/>
                  </a:ext>
                </a:extLst>
              </p:cNvPr>
              <p:cNvSpPr/>
              <p:nvPr/>
            </p:nvSpPr>
            <p:spPr>
              <a:xfrm>
                <a:off x="6538714" y="1603273"/>
                <a:ext cx="1132116" cy="1132116"/>
              </a:xfrm>
              <a:custGeom>
                <a:avLst/>
                <a:gdLst>
                  <a:gd name="connsiteX0" fmla="*/ 566058 w 1132116"/>
                  <a:gd name="connsiteY0" fmla="*/ 0 h 1132116"/>
                  <a:gd name="connsiteX1" fmla="*/ 1132116 w 1132116"/>
                  <a:gd name="connsiteY1" fmla="*/ 566058 h 1132116"/>
                  <a:gd name="connsiteX2" fmla="*/ 566058 w 1132116"/>
                  <a:gd name="connsiteY2" fmla="*/ 1132116 h 1132116"/>
                  <a:gd name="connsiteX3" fmla="*/ 0 w 1132116"/>
                  <a:gd name="connsiteY3" fmla="*/ 566058 h 1132116"/>
                  <a:gd name="connsiteX4" fmla="*/ 566058 w 1132116"/>
                  <a:gd name="connsiteY4" fmla="*/ 0 h 1132116"/>
                  <a:gd name="connsiteX5" fmla="*/ 566053 w 1132116"/>
                  <a:gd name="connsiteY5" fmla="*/ 76795 h 1132116"/>
                  <a:gd name="connsiteX6" fmla="*/ 76791 w 1132116"/>
                  <a:gd name="connsiteY6" fmla="*/ 566057 h 1132116"/>
                  <a:gd name="connsiteX7" fmla="*/ 566053 w 1132116"/>
                  <a:gd name="connsiteY7" fmla="*/ 1055319 h 1132116"/>
                  <a:gd name="connsiteX8" fmla="*/ 1055315 w 1132116"/>
                  <a:gd name="connsiteY8" fmla="*/ 566057 h 1132116"/>
                  <a:gd name="connsiteX9" fmla="*/ 566053 w 1132116"/>
                  <a:gd name="connsiteY9" fmla="*/ 76795 h 1132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32116" h="1132116">
                    <a:moveTo>
                      <a:pt x="566058" y="0"/>
                    </a:moveTo>
                    <a:cubicBezTo>
                      <a:pt x="878683" y="0"/>
                      <a:pt x="1132116" y="253433"/>
                      <a:pt x="1132116" y="566058"/>
                    </a:cubicBezTo>
                    <a:cubicBezTo>
                      <a:pt x="1132116" y="878683"/>
                      <a:pt x="878683" y="1132116"/>
                      <a:pt x="566058" y="1132116"/>
                    </a:cubicBezTo>
                    <a:cubicBezTo>
                      <a:pt x="253433" y="1132116"/>
                      <a:pt x="0" y="878683"/>
                      <a:pt x="0" y="566058"/>
                    </a:cubicBezTo>
                    <a:cubicBezTo>
                      <a:pt x="0" y="253433"/>
                      <a:pt x="253433" y="0"/>
                      <a:pt x="566058" y="0"/>
                    </a:cubicBezTo>
                    <a:close/>
                    <a:moveTo>
                      <a:pt x="566053" y="76795"/>
                    </a:moveTo>
                    <a:cubicBezTo>
                      <a:pt x="295841" y="76795"/>
                      <a:pt x="76791" y="295845"/>
                      <a:pt x="76791" y="566057"/>
                    </a:cubicBezTo>
                    <a:cubicBezTo>
                      <a:pt x="76791" y="836269"/>
                      <a:pt x="295841" y="1055319"/>
                      <a:pt x="566053" y="1055319"/>
                    </a:cubicBezTo>
                    <a:cubicBezTo>
                      <a:pt x="836265" y="1055319"/>
                      <a:pt x="1055315" y="836269"/>
                      <a:pt x="1055315" y="566057"/>
                    </a:cubicBezTo>
                    <a:cubicBezTo>
                      <a:pt x="1055315" y="295845"/>
                      <a:pt x="836265" y="76795"/>
                      <a:pt x="566053" y="76795"/>
                    </a:cubicBezTo>
                    <a:close/>
                  </a:path>
                </a:pathLst>
              </a:custGeom>
              <a:solidFill>
                <a:srgbClr val="CA0035"/>
              </a:solidFill>
              <a:ln>
                <a:solidFill>
                  <a:srgbClr val="CA003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760FD0BD-0A6A-40A1-9476-C6613426114D}"/>
                  </a:ext>
                </a:extLst>
              </p:cNvPr>
              <p:cNvSpPr/>
              <p:nvPr/>
            </p:nvSpPr>
            <p:spPr>
              <a:xfrm>
                <a:off x="6681562" y="1746121"/>
                <a:ext cx="846417" cy="846417"/>
              </a:xfrm>
              <a:prstGeom prst="ellipse">
                <a:avLst/>
              </a:prstGeom>
              <a:solidFill>
                <a:srgbClr val="CA0035"/>
              </a:solidFill>
              <a:ln>
                <a:solidFill>
                  <a:srgbClr val="CA003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a-IR" dirty="0">
                    <a:cs typeface="B Yekan" panose="00000400000000000000" pitchFamily="2" charset="-78"/>
                  </a:rPr>
                  <a:t>2</a:t>
                </a:r>
                <a:endParaRPr lang="id-ID" dirty="0">
                  <a:cs typeface="B Yekan" panose="00000400000000000000" pitchFamily="2" charset="-78"/>
                </a:endParaRPr>
              </a:p>
            </p:txBody>
          </p:sp>
        </p:grp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BB9C2D2B-D1D3-4F3C-9D7C-C802ECB775E8}"/>
                </a:ext>
              </a:extLst>
            </p:cNvPr>
            <p:cNvSpPr/>
            <p:nvPr/>
          </p:nvSpPr>
          <p:spPr>
            <a:xfrm>
              <a:off x="7439030" y="2206448"/>
              <a:ext cx="2948826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fa-I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  <a:cs typeface="B Yekan" panose="00000400000000000000" pitchFamily="2" charset="-78"/>
                </a:rPr>
                <a:t>در </a:t>
              </a:r>
              <a:r>
                <a:rPr lang="fa-IR" sz="1400" dirty="0">
                  <a:solidFill>
                    <a:schemeClr val="bg1"/>
                  </a:solidFill>
                  <a:latin typeface="Tw Cen MT" panose="020B0602020104020603" pitchFamily="34" charset="0"/>
                  <a:cs typeface="B Yekan" panose="00000400000000000000" pitchFamily="2" charset="-78"/>
                </a:rPr>
                <a:t>برای دخبره سازی اطلاعات از کتابخانه </a:t>
              </a:r>
            </a:p>
            <a:p>
              <a:pPr algn="r"/>
              <a:r>
                <a:rPr lang="fa-I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  <a:cs typeface="B Yekan" panose="00000400000000000000" pitchFamily="2" charset="-78"/>
                </a:rPr>
                <a:t>اس</a:t>
              </a:r>
              <a:r>
                <a:rPr lang="fa-IR" sz="1400" dirty="0">
                  <a:solidFill>
                    <a:schemeClr val="bg1"/>
                  </a:solidFill>
                  <a:latin typeface="Tw Cen MT" panose="020B0602020104020603" pitchFamily="34" charset="0"/>
                  <a:cs typeface="B Yekan" panose="00000400000000000000" pitchFamily="2" charset="-78"/>
                </a:rPr>
                <a:t>استفاده شد </a:t>
              </a:r>
              <a:r>
                <a:rPr lang="fa-I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  <a:cs typeface="B Yekan" panose="00000400000000000000" pitchFamily="2" charset="-78"/>
                </a:rPr>
                <a:t>                  چکیده‌ا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  <a:cs typeface="B Yekan" panose="00000400000000000000" pitchFamily="2" charset="-78"/>
                </a:rPr>
                <a:t>p</a:t>
              </a:r>
              <a:r>
                <a:rPr lang="en-US" sz="1400" dirty="0" err="1">
                  <a:solidFill>
                    <a:schemeClr val="bg1"/>
                  </a:solidFill>
                  <a:latin typeface="Tw Cen MT" panose="020B0602020104020603" pitchFamily="34" charset="0"/>
                  <a:cs typeface="B Yekan" panose="00000400000000000000" pitchFamily="2" charset="-78"/>
                </a:rPr>
                <a:t>pickle</a:t>
              </a:r>
              <a:r>
                <a:rPr lang="en-US" sz="1400" dirty="0">
                  <a:solidFill>
                    <a:schemeClr val="bg1"/>
                  </a:solidFill>
                  <a:latin typeface="Tw Cen MT" panose="020B0602020104020603" pitchFamily="34" charset="0"/>
                  <a:cs typeface="B Yekan" panose="00000400000000000000" pitchFamily="2" charset="-78"/>
                </a:rPr>
                <a:t> </a:t>
              </a:r>
              <a:r>
                <a:rPr lang="fa-I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Tw Cen MT" panose="020B0602020104020603" pitchFamily="34" charset="0"/>
                  <a:cs typeface="B Yekan" panose="00000400000000000000" pitchFamily="2" charset="-78"/>
                </a:rPr>
                <a:t>ی به راجع به تیتر خود وارد کنید.</a:t>
              </a:r>
              <a:endPara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Tw Cen MT" panose="020B0602020104020603" pitchFamily="34" charset="0"/>
                <a:cs typeface="B Yekan" panose="00000400000000000000" pitchFamily="2" charset="-78"/>
              </a:endParaRPr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989EC8A9-8B7A-4CD1-814B-8184426F3E2E}"/>
                </a:ext>
              </a:extLst>
            </p:cNvPr>
            <p:cNvSpPr/>
            <p:nvPr/>
          </p:nvSpPr>
          <p:spPr>
            <a:xfrm>
              <a:off x="8217075" y="1665822"/>
              <a:ext cx="2063169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endParaRPr lang="id-ID" sz="1600" b="1" dirty="0">
                <a:solidFill>
                  <a:srgbClr val="CA0035"/>
                </a:solidFill>
                <a:latin typeface="Raleway" panose="020B0503030101060003" pitchFamily="34" charset="0"/>
                <a:cs typeface="B Yekan" panose="00000400000000000000" pitchFamily="2" charset="-78"/>
              </a:endParaRPr>
            </a:p>
          </p:txBody>
        </p: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2095AF6-8730-4391-B559-46B44AB7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b="1" dirty="0">
                <a:cs typeface="B Yekan" panose="00000400000000000000" pitchFamily="2" charset="-78"/>
              </a:rPr>
              <a:t>2</a:t>
            </a:r>
            <a:endParaRPr lang="en-US" b="1" dirty="0">
              <a:cs typeface="B Yekan" panose="00000400000000000000" pitchFamily="2" charset="-7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2F61B57-FAC4-9B78-72F9-F9C22D091D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662" y="2397626"/>
            <a:ext cx="6652601" cy="3143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25408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8C8A8E5-F71A-4753-8CD3-385D7584E844}"/>
              </a:ext>
            </a:extLst>
          </p:cNvPr>
          <p:cNvSpPr/>
          <p:nvPr/>
        </p:nvSpPr>
        <p:spPr>
          <a:xfrm>
            <a:off x="2633355" y="351687"/>
            <a:ext cx="1617788" cy="691668"/>
          </a:xfrm>
          <a:prstGeom prst="round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black"/>
                </a:solidFill>
                <a:latin typeface="Calibri" panose="020F0502020204030204"/>
                <a:cs typeface="B Yekan" panose="00000400000000000000" pitchFamily="2" charset="-78"/>
              </a:rPr>
              <a:t>نمودار ها </a:t>
            </a:r>
            <a:endParaRPr lang="en-US" dirty="0">
              <a:solidFill>
                <a:prstClr val="black"/>
              </a:solidFill>
              <a:latin typeface="Calibri" panose="020F0502020204030204"/>
              <a:cs typeface="B Yekan" panose="00000400000000000000" pitchFamily="2" charset="-78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9306F83-60D6-4002-8440-747D4971D767}"/>
              </a:ext>
            </a:extLst>
          </p:cNvPr>
          <p:cNvSpPr/>
          <p:nvPr/>
        </p:nvSpPr>
        <p:spPr>
          <a:xfrm>
            <a:off x="6144495" y="351687"/>
            <a:ext cx="1617788" cy="691668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dirty="0">
                <a:solidFill>
                  <a:prstClr val="black"/>
                </a:solidFill>
                <a:latin typeface="Calibri" panose="020F0502020204030204"/>
                <a:cs typeface="B Yekan" panose="00000400000000000000" pitchFamily="2" charset="-78"/>
              </a:rPr>
              <a:t>قیمت آنلاین ارز ها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B Yekan" panose="00000400000000000000" pitchFamily="2" charset="-78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54D2D54-398F-4424-BA03-8924E5C68A14}"/>
              </a:ext>
            </a:extLst>
          </p:cNvPr>
          <p:cNvSpPr/>
          <p:nvPr/>
        </p:nvSpPr>
        <p:spPr>
          <a:xfrm>
            <a:off x="4388925" y="351687"/>
            <a:ext cx="1617788" cy="691668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B Yekan" panose="00000400000000000000" pitchFamily="2" charset="-78"/>
              </a:rPr>
              <a:t>تقویم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B Yekan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7D15C63-1139-40E0-AB72-FA87E7844D5D}"/>
              </a:ext>
            </a:extLst>
          </p:cNvPr>
          <p:cNvSpPr/>
          <p:nvPr/>
        </p:nvSpPr>
        <p:spPr>
          <a:xfrm>
            <a:off x="7900065" y="343451"/>
            <a:ext cx="1617788" cy="691668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  <a:latin typeface="Calibri" panose="020F0502020204030204"/>
              </a:rPr>
              <a:t>Log in &amp;</a:t>
            </a:r>
            <a:r>
              <a:rPr lang="fa-IR" dirty="0">
                <a:solidFill>
                  <a:schemeClr val="bg1"/>
                </a:solidFill>
                <a:latin typeface="Calibri" panose="020F0502020204030204"/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database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29C8635-69D5-4078-97E3-8EBB90B4F78F}"/>
              </a:ext>
            </a:extLst>
          </p:cNvPr>
          <p:cNvSpPr/>
          <p:nvPr/>
        </p:nvSpPr>
        <p:spPr>
          <a:xfrm>
            <a:off x="9655635" y="351687"/>
            <a:ext cx="1617788" cy="691668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a-IR" dirty="0">
                <a:solidFill>
                  <a:prstClr val="black"/>
                </a:solidFill>
                <a:latin typeface="Calibri" panose="020F0502020204030204"/>
                <a:cs typeface="B Yekan" panose="00000400000000000000" pitchFamily="2" charset="-78"/>
              </a:rPr>
              <a:t>طرح کلی</a:t>
            </a:r>
            <a:endParaRPr lang="en-US" dirty="0">
              <a:solidFill>
                <a:prstClr val="black"/>
              </a:solidFill>
              <a:latin typeface="Calibri" panose="020F0502020204030204"/>
              <a:cs typeface="B Yekan" panose="00000400000000000000" pitchFamily="2" charset="-78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5601D7A-3D6D-4578-BA3F-F73A0014F91A}"/>
              </a:ext>
            </a:extLst>
          </p:cNvPr>
          <p:cNvSpPr/>
          <p:nvPr/>
        </p:nvSpPr>
        <p:spPr>
          <a:xfrm>
            <a:off x="526576" y="1478065"/>
            <a:ext cx="10960274" cy="5205052"/>
          </a:xfrm>
          <a:prstGeom prst="rect">
            <a:avLst/>
          </a:prstGeom>
          <a:ln>
            <a:solidFill>
              <a:srgbClr val="E7EB58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C5F24FE-DF35-4E63-8E28-0DE0176A3AFE}"/>
              </a:ext>
            </a:extLst>
          </p:cNvPr>
          <p:cNvSpPr/>
          <p:nvPr/>
        </p:nvSpPr>
        <p:spPr>
          <a:xfrm>
            <a:off x="877785" y="351687"/>
            <a:ext cx="1617788" cy="691668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B Yekan" panose="00000400000000000000" pitchFamily="2" charset="-78"/>
              </a:rPr>
              <a:t>ساعت و گیف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B Yekan" panose="00000400000000000000" pitchFamily="2" charset="-78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4BA5751-DEE4-4FCC-B88F-8D5446359C36}"/>
              </a:ext>
            </a:extLst>
          </p:cNvPr>
          <p:cNvGrpSpPr/>
          <p:nvPr/>
        </p:nvGrpSpPr>
        <p:grpSpPr>
          <a:xfrm>
            <a:off x="7352778" y="1478065"/>
            <a:ext cx="3513045" cy="1042736"/>
            <a:chOff x="7352778" y="1665822"/>
            <a:chExt cx="3513045" cy="1042736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07BB1370-EF48-4E53-8DB1-B8E5DF4A54B0}"/>
                </a:ext>
              </a:extLst>
            </p:cNvPr>
            <p:cNvGrpSpPr/>
            <p:nvPr/>
          </p:nvGrpSpPr>
          <p:grpSpPr>
            <a:xfrm>
              <a:off x="10366497" y="1804322"/>
              <a:ext cx="499326" cy="499326"/>
              <a:chOff x="6538714" y="1603273"/>
              <a:chExt cx="1132116" cy="1132116"/>
            </a:xfrm>
            <a:solidFill>
              <a:schemeClr val="accent3"/>
            </a:solidFill>
          </p:grpSpPr>
          <p:sp>
            <p:nvSpPr>
              <p:cNvPr id="150" name="Freeform: Shape 13">
                <a:extLst>
                  <a:ext uri="{FF2B5EF4-FFF2-40B4-BE49-F238E27FC236}">
                    <a16:creationId xmlns:a16="http://schemas.microsoft.com/office/drawing/2014/main" id="{018462FC-82C5-40E9-B30D-1EB60FA615E9}"/>
                  </a:ext>
                </a:extLst>
              </p:cNvPr>
              <p:cNvSpPr/>
              <p:nvPr/>
            </p:nvSpPr>
            <p:spPr>
              <a:xfrm>
                <a:off x="6538714" y="1603273"/>
                <a:ext cx="1132116" cy="1132116"/>
              </a:xfrm>
              <a:custGeom>
                <a:avLst/>
                <a:gdLst>
                  <a:gd name="connsiteX0" fmla="*/ 566058 w 1132116"/>
                  <a:gd name="connsiteY0" fmla="*/ 0 h 1132116"/>
                  <a:gd name="connsiteX1" fmla="*/ 1132116 w 1132116"/>
                  <a:gd name="connsiteY1" fmla="*/ 566058 h 1132116"/>
                  <a:gd name="connsiteX2" fmla="*/ 566058 w 1132116"/>
                  <a:gd name="connsiteY2" fmla="*/ 1132116 h 1132116"/>
                  <a:gd name="connsiteX3" fmla="*/ 0 w 1132116"/>
                  <a:gd name="connsiteY3" fmla="*/ 566058 h 1132116"/>
                  <a:gd name="connsiteX4" fmla="*/ 566058 w 1132116"/>
                  <a:gd name="connsiteY4" fmla="*/ 0 h 1132116"/>
                  <a:gd name="connsiteX5" fmla="*/ 566053 w 1132116"/>
                  <a:gd name="connsiteY5" fmla="*/ 76795 h 1132116"/>
                  <a:gd name="connsiteX6" fmla="*/ 76791 w 1132116"/>
                  <a:gd name="connsiteY6" fmla="*/ 566057 h 1132116"/>
                  <a:gd name="connsiteX7" fmla="*/ 566053 w 1132116"/>
                  <a:gd name="connsiteY7" fmla="*/ 1055319 h 1132116"/>
                  <a:gd name="connsiteX8" fmla="*/ 1055315 w 1132116"/>
                  <a:gd name="connsiteY8" fmla="*/ 566057 h 1132116"/>
                  <a:gd name="connsiteX9" fmla="*/ 566053 w 1132116"/>
                  <a:gd name="connsiteY9" fmla="*/ 76795 h 11321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132116" h="1132116">
                    <a:moveTo>
                      <a:pt x="566058" y="0"/>
                    </a:moveTo>
                    <a:cubicBezTo>
                      <a:pt x="878683" y="0"/>
                      <a:pt x="1132116" y="253433"/>
                      <a:pt x="1132116" y="566058"/>
                    </a:cubicBezTo>
                    <a:cubicBezTo>
                      <a:pt x="1132116" y="878683"/>
                      <a:pt x="878683" y="1132116"/>
                      <a:pt x="566058" y="1132116"/>
                    </a:cubicBezTo>
                    <a:cubicBezTo>
                      <a:pt x="253433" y="1132116"/>
                      <a:pt x="0" y="878683"/>
                      <a:pt x="0" y="566058"/>
                    </a:cubicBezTo>
                    <a:cubicBezTo>
                      <a:pt x="0" y="253433"/>
                      <a:pt x="253433" y="0"/>
                      <a:pt x="566058" y="0"/>
                    </a:cubicBezTo>
                    <a:close/>
                    <a:moveTo>
                      <a:pt x="566053" y="76795"/>
                    </a:moveTo>
                    <a:cubicBezTo>
                      <a:pt x="295841" y="76795"/>
                      <a:pt x="76791" y="295845"/>
                      <a:pt x="76791" y="566057"/>
                    </a:cubicBezTo>
                    <a:cubicBezTo>
                      <a:pt x="76791" y="836269"/>
                      <a:pt x="295841" y="1055319"/>
                      <a:pt x="566053" y="1055319"/>
                    </a:cubicBezTo>
                    <a:cubicBezTo>
                      <a:pt x="836265" y="1055319"/>
                      <a:pt x="1055315" y="836269"/>
                      <a:pt x="1055315" y="566057"/>
                    </a:cubicBezTo>
                    <a:cubicBezTo>
                      <a:pt x="1055315" y="295845"/>
                      <a:pt x="836265" y="76795"/>
                      <a:pt x="566053" y="76795"/>
                    </a:cubicBezTo>
                    <a:close/>
                  </a:path>
                </a:pathLst>
              </a:custGeom>
              <a:solidFill>
                <a:srgbClr val="5B1646"/>
              </a:solidFill>
              <a:ln>
                <a:solidFill>
                  <a:srgbClr val="5B16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/>
              </a:p>
            </p:txBody>
          </p:sp>
          <p:sp>
            <p:nvSpPr>
              <p:cNvPr id="151" name="Oval 150">
                <a:extLst>
                  <a:ext uri="{FF2B5EF4-FFF2-40B4-BE49-F238E27FC236}">
                    <a16:creationId xmlns:a16="http://schemas.microsoft.com/office/drawing/2014/main" id="{E3EF275B-3A36-4387-91A8-FBE7215388C3}"/>
                  </a:ext>
                </a:extLst>
              </p:cNvPr>
              <p:cNvSpPr/>
              <p:nvPr/>
            </p:nvSpPr>
            <p:spPr>
              <a:xfrm>
                <a:off x="6681562" y="1746121"/>
                <a:ext cx="846417" cy="846417"/>
              </a:xfrm>
              <a:prstGeom prst="ellipse">
                <a:avLst/>
              </a:prstGeom>
              <a:solidFill>
                <a:srgbClr val="5B1646"/>
              </a:solidFill>
              <a:ln>
                <a:solidFill>
                  <a:srgbClr val="5B164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a-IR" dirty="0">
                    <a:cs typeface="B Yekan" panose="00000400000000000000" pitchFamily="2" charset="-78"/>
                  </a:rPr>
                  <a:t>1</a:t>
                </a:r>
                <a:endParaRPr lang="id-ID" dirty="0">
                  <a:cs typeface="B Yekan" panose="00000400000000000000" pitchFamily="2" charset="-78"/>
                </a:endParaRPr>
              </a:p>
            </p:txBody>
          </p:sp>
        </p:grp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7E5622B6-F34D-431F-B81B-2B3686A54EF0}"/>
                </a:ext>
              </a:extLst>
            </p:cNvPr>
            <p:cNvSpPr/>
            <p:nvPr/>
          </p:nvSpPr>
          <p:spPr>
            <a:xfrm>
              <a:off x="7352778" y="1969894"/>
              <a:ext cx="2948826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fa-IR" sz="1400" dirty="0">
                  <a:solidFill>
                    <a:schemeClr val="bg1"/>
                  </a:solidFill>
                  <a:latin typeface="Tw Cen MT" panose="020B0602020104020603" pitchFamily="34" charset="0"/>
                  <a:cs typeface="B Yekan" panose="00000400000000000000" pitchFamily="2" charset="-78"/>
                </a:rPr>
                <a:t>برای رسم نمودار ها از کتابخانه </a:t>
              </a:r>
            </a:p>
            <a:p>
              <a:pPr algn="r"/>
              <a:r>
                <a:rPr lang="en-US" sz="1400" b="0" dirty="0" err="1">
                  <a:solidFill>
                    <a:schemeClr val="bg1"/>
                  </a:solidFill>
                  <a:effectLst/>
                  <a:latin typeface="Consolas" panose="020B0609020204030204" pitchFamily="49" charset="0"/>
                </a:rPr>
                <a:t>pyqtgraph</a:t>
              </a:r>
              <a:endParaRPr lang="en-US" sz="14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endParaRPr>
            </a:p>
            <a:p>
              <a:pPr algn="r"/>
              <a:r>
                <a:rPr lang="fa-IR" sz="1400" dirty="0">
                  <a:solidFill>
                    <a:schemeClr val="bg1"/>
                  </a:solidFill>
                  <a:latin typeface="Tw Cen MT" panose="020B0602020104020603" pitchFamily="34" charset="0"/>
                  <a:cs typeface="B Yekan" panose="00000400000000000000" pitchFamily="2" charset="-78"/>
                </a:rPr>
                <a:t>استفاده شده است </a:t>
              </a:r>
              <a:endParaRPr lang="en-US" sz="1400" dirty="0">
                <a:solidFill>
                  <a:schemeClr val="bg1"/>
                </a:solidFill>
                <a:latin typeface="Tw Cen MT" panose="020B0602020104020603" pitchFamily="34" charset="0"/>
                <a:cs typeface="B Yekan" panose="00000400000000000000" pitchFamily="2" charset="-78"/>
              </a:endParaRPr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C9DB444E-F296-46CF-9A52-A0FA7F9E1463}"/>
                </a:ext>
              </a:extLst>
            </p:cNvPr>
            <p:cNvSpPr/>
            <p:nvPr/>
          </p:nvSpPr>
          <p:spPr>
            <a:xfrm>
              <a:off x="8217075" y="1665822"/>
              <a:ext cx="2063170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endParaRPr lang="id-ID" sz="1600" b="1" dirty="0">
                <a:solidFill>
                  <a:srgbClr val="5B1646"/>
                </a:solidFill>
                <a:latin typeface="Raleway" panose="020B0503030101060003" pitchFamily="34" charset="0"/>
                <a:cs typeface="B Yekan" panose="00000400000000000000" pitchFamily="2" charset="-78"/>
              </a:endParaRPr>
            </a:p>
          </p:txBody>
        </p: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2095AF6-8730-4391-B559-46B44AB7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b="1" dirty="0">
                <a:cs typeface="B Yekan" panose="00000400000000000000" pitchFamily="2" charset="-78"/>
              </a:rPr>
              <a:t>2</a:t>
            </a:r>
            <a:endParaRPr lang="en-US" b="1" dirty="0">
              <a:cs typeface="B Yekan" panose="00000400000000000000" pitchFamily="2" charset="-78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BB95B63-CE19-F496-27E7-7B40F85415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1274" y="2205828"/>
            <a:ext cx="7629525" cy="4308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08528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8C8A8E5-F71A-4753-8CD3-385D7584E844}"/>
              </a:ext>
            </a:extLst>
          </p:cNvPr>
          <p:cNvSpPr/>
          <p:nvPr/>
        </p:nvSpPr>
        <p:spPr>
          <a:xfrm>
            <a:off x="2633355" y="351687"/>
            <a:ext cx="1617788" cy="691668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a-IR" dirty="0">
                <a:solidFill>
                  <a:prstClr val="black"/>
                </a:solidFill>
                <a:latin typeface="Calibri" panose="020F0502020204030204"/>
                <a:cs typeface="B Yekan" panose="00000400000000000000" pitchFamily="2" charset="-78"/>
              </a:rPr>
              <a:t>نمودار ها </a:t>
            </a:r>
            <a:endParaRPr lang="en-US" dirty="0">
              <a:solidFill>
                <a:prstClr val="black"/>
              </a:solidFill>
              <a:latin typeface="Calibri" panose="020F0502020204030204"/>
              <a:cs typeface="B Yekan" panose="00000400000000000000" pitchFamily="2" charset="-78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9306F83-60D6-4002-8440-747D4971D767}"/>
              </a:ext>
            </a:extLst>
          </p:cNvPr>
          <p:cNvSpPr/>
          <p:nvPr/>
        </p:nvSpPr>
        <p:spPr>
          <a:xfrm>
            <a:off x="6144495" y="351687"/>
            <a:ext cx="1617788" cy="691668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a-IR" dirty="0">
                <a:solidFill>
                  <a:prstClr val="black"/>
                </a:solidFill>
                <a:latin typeface="Calibri" panose="020F0502020204030204"/>
                <a:cs typeface="B Yekan" panose="00000400000000000000" pitchFamily="2" charset="-78"/>
              </a:rPr>
              <a:t>قیمت آنلاین ارز ها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B Yekan" panose="00000400000000000000" pitchFamily="2" charset="-78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54D2D54-398F-4424-BA03-8924E5C68A14}"/>
              </a:ext>
            </a:extLst>
          </p:cNvPr>
          <p:cNvSpPr/>
          <p:nvPr/>
        </p:nvSpPr>
        <p:spPr>
          <a:xfrm>
            <a:off x="4388925" y="351687"/>
            <a:ext cx="1617788" cy="691668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B Yekan" panose="00000400000000000000" pitchFamily="2" charset="-78"/>
              </a:rPr>
              <a:t>تقویم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B Yekan" panose="00000400000000000000" pitchFamily="2" charset="-78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7D15C63-1139-40E0-AB72-FA87E7844D5D}"/>
              </a:ext>
            </a:extLst>
          </p:cNvPr>
          <p:cNvSpPr/>
          <p:nvPr/>
        </p:nvSpPr>
        <p:spPr>
          <a:xfrm>
            <a:off x="7900065" y="343451"/>
            <a:ext cx="1617788" cy="691668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  <a:latin typeface="Calibri" panose="020F0502020204030204"/>
              </a:rPr>
              <a:t>Log in &amp;</a:t>
            </a:r>
            <a:r>
              <a:rPr lang="fa-IR" dirty="0">
                <a:solidFill>
                  <a:schemeClr val="bg1"/>
                </a:solidFill>
                <a:latin typeface="Calibri" panose="020F0502020204030204"/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database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29C8635-69D5-4078-97E3-8EBB90B4F78F}"/>
              </a:ext>
            </a:extLst>
          </p:cNvPr>
          <p:cNvSpPr/>
          <p:nvPr/>
        </p:nvSpPr>
        <p:spPr>
          <a:xfrm>
            <a:off x="9655635" y="351687"/>
            <a:ext cx="1617788" cy="691668"/>
          </a:xfrm>
          <a:prstGeom prst="roundRect">
            <a:avLst/>
          </a:prstGeom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a-IR" dirty="0">
                <a:solidFill>
                  <a:prstClr val="black"/>
                </a:solidFill>
                <a:latin typeface="Calibri" panose="020F0502020204030204"/>
                <a:cs typeface="B Yekan" panose="00000400000000000000" pitchFamily="2" charset="-78"/>
              </a:rPr>
              <a:t>طرح کلی</a:t>
            </a:r>
            <a:endParaRPr lang="en-US" dirty="0">
              <a:solidFill>
                <a:prstClr val="black"/>
              </a:solidFill>
              <a:latin typeface="Calibri" panose="020F0502020204030204"/>
              <a:cs typeface="B Yekan" panose="00000400000000000000" pitchFamily="2" charset="-78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5601D7A-3D6D-4578-BA3F-F73A0014F91A}"/>
              </a:ext>
            </a:extLst>
          </p:cNvPr>
          <p:cNvSpPr/>
          <p:nvPr/>
        </p:nvSpPr>
        <p:spPr>
          <a:xfrm>
            <a:off x="664358" y="1391054"/>
            <a:ext cx="10960274" cy="5205052"/>
          </a:xfrm>
          <a:prstGeom prst="rect">
            <a:avLst/>
          </a:prstGeom>
          <a:ln>
            <a:solidFill>
              <a:srgbClr val="E7EB58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>
              <a:defRPr/>
            </a:pPr>
            <a:r>
              <a: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برای اضافه کردن گیف از ماژول </a:t>
            </a:r>
          </a:p>
          <a:p>
            <a:pPr algn="r">
              <a:defRPr/>
            </a:pPr>
            <a:r>
              <a:rPr 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QtGui.QMovie</a:t>
            </a:r>
            <a:endParaRPr lang="en-US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 lvl="0" algn="r">
              <a:defRPr/>
            </a:pPr>
            <a:r>
              <a:rPr lang="fa-IR" dirty="0">
                <a:solidFill>
                  <a:prstClr val="black"/>
                </a:solidFill>
                <a:latin typeface="Calibri" panose="020F0502020204030204"/>
              </a:rPr>
              <a:t>استفاده شد </a:t>
            </a:r>
          </a:p>
          <a:p>
            <a:pPr lvl="0" algn="r">
              <a:defRPr/>
            </a:pPr>
            <a:endParaRPr kumimoji="0" lang="fa-I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lvl="0" algn="r">
              <a:defRPr/>
            </a:pPr>
            <a:endParaRPr lang="fa-IR" dirty="0">
              <a:solidFill>
                <a:prstClr val="black"/>
              </a:solidFill>
              <a:latin typeface="Calibri" panose="020F0502020204030204"/>
            </a:endParaRPr>
          </a:p>
          <a:p>
            <a:pPr lvl="0" algn="r">
              <a:defRPr/>
            </a:pPr>
            <a:r>
              <a: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برای ا</a:t>
            </a:r>
            <a:r>
              <a:rPr lang="fa-IR" dirty="0">
                <a:solidFill>
                  <a:prstClr val="black"/>
                </a:solidFill>
                <a:latin typeface="Calibri" panose="020F0502020204030204"/>
              </a:rPr>
              <a:t>فزودن ساعت نیز از </a:t>
            </a:r>
          </a:p>
          <a:p>
            <a:pPr algn="r">
              <a:defRPr/>
            </a:pPr>
            <a:r>
              <a:rPr lang="en-US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QtCore.QTime.currentTime</a:t>
            </a:r>
            <a:endParaRPr lang="en-US" b="0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 lvl="0" algn="r">
              <a:defRPr/>
            </a:pPr>
            <a:r>
              <a: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استفاده شده است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C5F24FE-DF35-4E63-8E28-0DE0176A3AFE}"/>
              </a:ext>
            </a:extLst>
          </p:cNvPr>
          <p:cNvSpPr/>
          <p:nvPr/>
        </p:nvSpPr>
        <p:spPr>
          <a:xfrm>
            <a:off x="877785" y="351687"/>
            <a:ext cx="1617788" cy="691668"/>
          </a:xfrm>
          <a:prstGeom prst="roundRect">
            <a:avLst/>
          </a:prstGeom>
          <a:ln/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cs typeface="B Yekan" panose="00000400000000000000" pitchFamily="2" charset="-78"/>
              </a:rPr>
              <a:t>ساعت و گیف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cs typeface="B Yekan" panose="00000400000000000000" pitchFamily="2" charset="-78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2095AF6-8730-4391-B559-46B44AB7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fa-IR" b="1" dirty="0">
                <a:cs typeface="B Yekan" panose="00000400000000000000" pitchFamily="2" charset="-78"/>
              </a:rPr>
              <a:t>2</a:t>
            </a:r>
            <a:endParaRPr lang="en-US" b="1" dirty="0">
              <a:cs typeface="B Yekan" panose="00000400000000000000" pitchFamily="2" charset="-7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0A9E76-ACDD-553B-3431-67548E2E83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217" y="2288367"/>
            <a:ext cx="5515745" cy="341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106552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3AF2F-C214-F575-AAD1-2A95E36926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a-IR" dirty="0"/>
              <a:t>پایان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1BD8F6-09BD-C4FD-EE4B-DC830B086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60AFD-F91D-48C2-962E-6D3342CF860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204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341</TotalTime>
  <Words>426</Words>
  <Application>Microsoft Office PowerPoint</Application>
  <PresentationFormat>Widescreen</PresentationFormat>
  <Paragraphs>104</Paragraphs>
  <Slides>9</Slides>
  <Notes>2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Light</vt:lpstr>
      <vt:lpstr>Consolas</vt:lpstr>
      <vt:lpstr>Raleway</vt:lpstr>
      <vt:lpstr>Tw Cen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پایان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hassan.samadi.1380@gmail.com</cp:lastModifiedBy>
  <cp:revision>28</cp:revision>
  <dcterms:created xsi:type="dcterms:W3CDTF">2019-11-20T06:34:23Z</dcterms:created>
  <dcterms:modified xsi:type="dcterms:W3CDTF">2023-05-27T16:59:58Z</dcterms:modified>
</cp:coreProperties>
</file>